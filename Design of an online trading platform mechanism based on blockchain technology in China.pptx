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95" r:id="rId2"/>
    <p:sldId id="399" r:id="rId3"/>
    <p:sldId id="398" r:id="rId4"/>
    <p:sldId id="413" r:id="rId5"/>
    <p:sldId id="401" r:id="rId6"/>
    <p:sldId id="416" r:id="rId7"/>
    <p:sldId id="417" r:id="rId8"/>
    <p:sldId id="418" r:id="rId9"/>
    <p:sldId id="419" r:id="rId10"/>
    <p:sldId id="420" r:id="rId11"/>
    <p:sldId id="421" r:id="rId12"/>
    <p:sldId id="428" r:id="rId13"/>
  </p:sldIdLst>
  <p:sldSz cx="9904413" cy="6859588"/>
  <p:notesSz cx="6797675" cy="9874250"/>
  <p:custDataLst>
    <p:tags r:id="rId16"/>
  </p:custDataLst>
  <p:defaultTextStyle>
    <a:defPPr>
      <a:defRPr lang="de-DE"/>
    </a:defPPr>
    <a:lvl1pPr marL="0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963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925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888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851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814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776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2739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1702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>
          <p15:clr>
            <a:srgbClr val="A4A3A4"/>
          </p15:clr>
        </p15:guide>
        <p15:guide id="2" orient="horz" pos="187">
          <p15:clr>
            <a:srgbClr val="A4A3A4"/>
          </p15:clr>
        </p15:guide>
        <p15:guide id="3" orient="horz" pos="3975">
          <p15:clr>
            <a:srgbClr val="A4A3A4"/>
          </p15:clr>
        </p15:guide>
        <p15:guide id="4" orient="horz" pos="4066">
          <p15:clr>
            <a:srgbClr val="A4A3A4"/>
          </p15:clr>
        </p15:guide>
        <p15:guide id="5" orient="horz" pos="867">
          <p15:clr>
            <a:srgbClr val="A4A3A4"/>
          </p15:clr>
        </p15:guide>
        <p15:guide id="6" orient="horz" pos="572">
          <p15:clr>
            <a:srgbClr val="A4A3A4"/>
          </p15:clr>
        </p15:guide>
        <p15:guide id="7" orient="horz">
          <p15:clr>
            <a:srgbClr val="A4A3A4"/>
          </p15:clr>
        </p15:guide>
        <p15:guide id="8" pos="3119">
          <p15:clr>
            <a:srgbClr val="A4A3A4"/>
          </p15:clr>
        </p15:guide>
        <p15:guide id="9" pos="3210">
          <p15:clr>
            <a:srgbClr val="A4A3A4"/>
          </p15:clr>
        </p15:guide>
        <p15:guide id="10" pos="6238">
          <p15:clr>
            <a:srgbClr val="A4A3A4"/>
          </p15:clr>
        </p15:guide>
        <p15:guide id="11" pos="6090">
          <p15:clr>
            <a:srgbClr val="A4A3A4"/>
          </p15:clr>
        </p15:guide>
        <p15:guide id="12" pos="3028">
          <p15:clr>
            <a:srgbClr val="A4A3A4"/>
          </p15:clr>
        </p15:guide>
        <p15:guide id="13" pos="171">
          <p15:clr>
            <a:srgbClr val="A4A3A4"/>
          </p15:clr>
        </p15:guide>
        <p15:guide id="14" pos="5954">
          <p15:clr>
            <a:srgbClr val="A4A3A4"/>
          </p15:clr>
        </p15:guide>
        <p15:guide id="15" pos="2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2100"/>
    <a:srgbClr val="9B1717"/>
    <a:srgbClr val="741111"/>
    <a:srgbClr val="4E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7" autoAdjust="0"/>
    <p:restoredTop sz="93199" autoAdjust="0"/>
  </p:normalViewPr>
  <p:slideViewPr>
    <p:cSldViewPr snapToObjects="1" showGuides="1">
      <p:cViewPr varScale="1">
        <p:scale>
          <a:sx n="80" d="100"/>
          <a:sy n="80" d="100"/>
        </p:scale>
        <p:origin x="1277" y="48"/>
      </p:cViewPr>
      <p:guideLst>
        <p:guide orient="horz" pos="731"/>
        <p:guide orient="horz" pos="187"/>
        <p:guide orient="horz" pos="3975"/>
        <p:guide orient="horz" pos="4066"/>
        <p:guide orient="horz" pos="867"/>
        <p:guide orient="horz" pos="572"/>
        <p:guide orient="horz"/>
        <p:guide pos="3119"/>
        <p:guide pos="3210"/>
        <p:guide pos="6238"/>
        <p:guide pos="6090"/>
        <p:guide pos="3028"/>
        <p:guide pos="171"/>
        <p:guide pos="5954"/>
        <p:guide pos="2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Objects="1" showGuides="1">
      <p:cViewPr varScale="1">
        <p:scale>
          <a:sx n="91" d="100"/>
          <a:sy n="91" d="100"/>
        </p:scale>
        <p:origin x="3952" y="208"/>
      </p:cViewPr>
      <p:guideLst>
        <p:guide orient="horz" pos="3110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97BA2-BE1C-4EE9-A31C-7FFCDEBC3FDE}" type="datetimeFigureOut">
              <a:rPr lang="en-US" smtClean="0">
                <a:latin typeface="Arial" pitchFamily="34" charset="0"/>
                <a:cs typeface="Arial" pitchFamily="34" charset="0"/>
              </a:rPr>
              <a:pPr/>
              <a:t>11/7/2024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191C2-D4F7-424F-868C-23ADE6615EBC}" type="slidenum">
              <a:rPr lang="en-US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055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732C4D34-2C19-43C3-91CC-9F2B4AC12977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7075" y="741363"/>
            <a:ext cx="534352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D256E95E-57AA-4526-AA4C-3002F47FB1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92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7925" rtl="0" eaLnBrk="1" latinLnBrk="0" hangingPunct="1">
      <a:defRPr sz="13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8963" algn="l" defTabSz="957925" rtl="0" eaLnBrk="1" latinLnBrk="0" hangingPunct="1">
      <a:defRPr sz="13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7925" algn="l" defTabSz="957925" rtl="0" eaLnBrk="1" latinLnBrk="0" hangingPunct="1">
      <a:defRPr sz="13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6888" algn="l" defTabSz="957925" rtl="0" eaLnBrk="1" latinLnBrk="0" hangingPunct="1">
      <a:defRPr sz="13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5851" algn="l" defTabSz="957925" rtl="0" eaLnBrk="1" latinLnBrk="0" hangingPunct="1">
      <a:defRPr sz="13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4814" algn="l" defTabSz="9579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873776" algn="l" defTabSz="9579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52739" algn="l" defTabSz="9579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31702" algn="l" defTabSz="9579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2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86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44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38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44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04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46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8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6E95E-57AA-4526-AA4C-3002F47FB13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8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 Cover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对象 3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0550487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9" name="think-cell Slide" r:id="rId4" imgW="465" imgH="457" progId="TCLayout.ActiveDocument.1">
                  <p:embed/>
                </p:oleObj>
              </mc:Choice>
              <mc:Fallback>
                <p:oleObj name="think-cell Slide" r:id="rId4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265158" y="6103033"/>
            <a:ext cx="3586911" cy="20774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1500">
                <a:latin typeface="Palatino Linotype" panose="02040502050505030304" pitchFamily="18" charset="0"/>
              </a:defRPr>
            </a:lvl1pPr>
            <a:lvl2pPr marL="191585" indent="0">
              <a:buNone/>
              <a:defRPr sz="1000"/>
            </a:lvl2pPr>
            <a:lvl3pPr marL="338624" indent="0">
              <a:buNone/>
              <a:defRPr sz="1000"/>
            </a:lvl3pPr>
            <a:lvl4pPr marL="535156" indent="0">
              <a:buNone/>
              <a:defRPr sz="1000"/>
            </a:lvl4pPr>
            <a:lvl5pPr marL="686388" indent="0">
              <a:buNone/>
              <a:defRPr sz="1000"/>
            </a:lvl5pPr>
          </a:lstStyle>
          <a:p>
            <a:pPr lvl="0"/>
            <a:r>
              <a:rPr lang="en-US" dirty="0"/>
              <a:t>Author(s)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65158" y="5074613"/>
            <a:ext cx="4297888" cy="207749"/>
          </a:xfrm>
          <a:noFill/>
          <a:ln w="6350" cap="flat">
            <a:noFill/>
          </a:ln>
        </p:spPr>
        <p:txBody>
          <a:bodyPr vert="horz" wrap="square" lIns="0" tIns="0" rIns="0" bIns="0" rtlCol="0">
            <a:spAutoFit/>
          </a:bodyPr>
          <a:lstStyle>
            <a:lvl1pPr marL="188568" indent="-188568">
              <a:buNone/>
              <a:defRPr lang="en-US" sz="1500" baseline="0" smtClean="0">
                <a:latin typeface="Palatino Linotype" panose="02040502050505030304" pitchFamily="18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r>
              <a:rPr lang="en-US" dirty="0"/>
              <a:t>Date here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265158" y="4859205"/>
            <a:ext cx="4296719" cy="207749"/>
          </a:xfrm>
          <a:noFill/>
          <a:ln w="6350" cap="flat">
            <a:noFill/>
          </a:ln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500" baseline="0">
                <a:latin typeface="Palatino Linotype" panose="02040502050505030304" pitchFamily="18" charset="0"/>
              </a:defRPr>
            </a:lvl1pPr>
          </a:lstStyle>
          <a:p>
            <a:r>
              <a:rPr lang="en-US" dirty="0"/>
              <a:t>Report type here</a:t>
            </a:r>
          </a:p>
        </p:txBody>
      </p:sp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265157" y="3595829"/>
            <a:ext cx="9361046" cy="498713"/>
          </a:xfrm>
          <a:prstGeom prst="rect">
            <a:avLst/>
          </a:prstGeom>
          <a:noFill/>
          <a:ln w="6350" cap="flat">
            <a:noFill/>
          </a:ln>
        </p:spPr>
        <p:txBody>
          <a:bodyPr lIns="95793" tIns="47896" rIns="95793" bIns="47896"/>
          <a:lstStyle>
            <a:lvl1pPr algn="l">
              <a:lnSpc>
                <a:spcPct val="90000"/>
              </a:lnSpc>
              <a:defRPr sz="3800" b="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Presentation title here</a:t>
            </a:r>
            <a:endParaRPr lang="de-DE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3458637"/>
            <a:ext cx="9904413" cy="0"/>
          </a:xfrm>
          <a:prstGeom prst="line">
            <a:avLst/>
          </a:prstGeom>
          <a:ln w="6350" cap="flat">
            <a:solidFill>
              <a:srgbClr val="B421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5157" y="3065354"/>
            <a:ext cx="9361046" cy="263149"/>
          </a:xfrm>
          <a:prstGeom prst="rect">
            <a:avLst/>
          </a:prstGeom>
          <a:noFill/>
          <a:ln w="6350" cap="flat">
            <a:noFill/>
          </a:ln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943"/>
              </a:spcBef>
              <a:buNone/>
              <a:defRPr sz="1900" b="1" i="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78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9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8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8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 or client name here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2647950" y="-3775"/>
            <a:ext cx="7254875" cy="922898"/>
          </a:xfrm>
          <a:prstGeom prst="rect">
            <a:avLst/>
          </a:prstGeom>
          <a:solidFill>
            <a:srgbClr val="B42100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2" descr="http://statics.phbs.pku.edu.cn/uploadfile/2017/1122/20171122092949636.png"/>
          <p:cNvPicPr>
            <a:picLocks noChangeAspect="1" noChangeArrowheads="1"/>
          </p:cNvPicPr>
          <p:nvPr userDrawn="1"/>
        </p:nvPicPr>
        <p:blipFill rotWithShape="1"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1" t="26645" r="15215" b="28137"/>
          <a:stretch/>
        </p:blipFill>
        <p:spPr bwMode="auto">
          <a:xfrm>
            <a:off x="364939" y="166237"/>
            <a:ext cx="1957908" cy="66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493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195656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3" name="think-cell Slide" r:id="rId4" imgW="465" imgH="457" progId="TCLayout.ActiveDocument.1">
                  <p:embed/>
                </p:oleObj>
              </mc:Choice>
              <mc:Fallback>
                <p:oleObj name="think-cell Slide" r:id="rId4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264840" y="296863"/>
            <a:ext cx="936811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4" name="Picture 2" descr="http://statics.phbs.pku.edu.cn/uploadfile/2017/1122/20171122092949636.png"/>
          <p:cNvPicPr>
            <a:picLocks noChangeAspect="1" noChangeArrowheads="1"/>
          </p:cNvPicPr>
          <p:nvPr userDrawn="1"/>
        </p:nvPicPr>
        <p:blipFill rotWithShape="1"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1" t="26645" r="15215" b="28137"/>
          <a:stretch/>
        </p:blipFill>
        <p:spPr bwMode="auto">
          <a:xfrm>
            <a:off x="7675042" y="189434"/>
            <a:ext cx="1957908" cy="66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07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 Titl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440824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7" name="think-cell Slide" r:id="rId4" imgW="465" imgH="457" progId="TCLayout.ActiveDocument.1">
                  <p:embed/>
                </p:oleObj>
              </mc:Choice>
              <mc:Fallback>
                <p:oleObj name="think-cell Slide" r:id="rId4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4806" y="1160486"/>
            <a:ext cx="9358500" cy="1544846"/>
          </a:xfrm>
        </p:spPr>
        <p:txBody>
          <a:bodyPr/>
          <a:lstStyle>
            <a:lvl1pPr marL="188568" indent="-188568">
              <a:lnSpc>
                <a:spcPct val="110000"/>
              </a:lnSpc>
              <a:buClr>
                <a:srgbClr val="B42100"/>
              </a:buClr>
              <a:defRPr baseline="0">
                <a:latin typeface="Palatino Linotype" panose="02040502050505030304" pitchFamily="18" charset="0"/>
                <a:ea typeface="华文楷体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2pPr>
            <a:lvl3pPr marL="895350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3pPr>
            <a:lvl4pPr marL="1162050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5pPr>
          </a:lstStyle>
          <a:p>
            <a:pPr marL="188568" indent="-188568">
              <a:lnSpc>
                <a:spcPct val="110000"/>
              </a:lnSpc>
              <a:buClr>
                <a:srgbClr val="B42100"/>
              </a:buClr>
            </a:pPr>
            <a:r>
              <a:rPr kumimoji="1" lang="en-US" altLang="zh-CN" sz="1600" dirty="0">
                <a:ea typeface="PMingLiU" pitchFamily="18" charset="-120"/>
              </a:rPr>
              <a:t>Text</a:t>
            </a:r>
            <a:r>
              <a:rPr kumimoji="1" lang="en-US" altLang="zh-CN" sz="1600" baseline="0" dirty="0">
                <a:ea typeface="PMingLiU" pitchFamily="18" charset="-120"/>
              </a:rPr>
              <a:t> on first level here</a:t>
            </a:r>
            <a:endParaRPr kumimoji="1" lang="en-US" altLang="zh-CN" sz="1600" dirty="0">
              <a:ea typeface="PMingLiU" pitchFamily="18" charset="-120"/>
            </a:endParaRPr>
          </a:p>
          <a:p>
            <a:pPr marL="5270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r>
              <a:rPr lang="en-US" altLang="zh-CN" sz="1600" dirty="0">
                <a:latin typeface="Palatino Linotype" panose="02040502050505030304" pitchFamily="18" charset="0"/>
              </a:rPr>
              <a:t>Second level</a:t>
            </a:r>
          </a:p>
          <a:p>
            <a:pPr marL="895350" lvl="2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Third level</a:t>
            </a:r>
          </a:p>
          <a:p>
            <a:pPr marL="1162050" lvl="3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Content</a:t>
            </a:r>
          </a:p>
          <a:p>
            <a:pPr marL="6286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endParaRPr lang="en-US" altLang="zh-CN" sz="1600" dirty="0">
              <a:latin typeface="Palatino Linotype" panose="02040502050505030304" pitchFamily="18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264840" y="296863"/>
            <a:ext cx="936811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274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 Onlytex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6010702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1" name="think-cell Slide" r:id="rId4" imgW="465" imgH="457" progId="TCLayout.ActiveDocument.1">
                  <p:embed/>
                </p:oleObj>
              </mc:Choice>
              <mc:Fallback>
                <p:oleObj name="think-cell Slide" r:id="rId4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4806" y="1376363"/>
            <a:ext cx="4531032" cy="4933950"/>
          </a:xfrm>
        </p:spPr>
        <p:txBody>
          <a:bodyPr/>
          <a:lstStyle>
            <a:lvl1pPr marL="188568" indent="-188568">
              <a:lnSpc>
                <a:spcPct val="110000"/>
              </a:lnSpc>
              <a:buClr>
                <a:srgbClr val="B42100"/>
              </a:buClr>
              <a:defRPr baseline="0">
                <a:latin typeface="Palatino Linotype" panose="02040502050505030304" pitchFamily="18" charset="0"/>
                <a:ea typeface="华文楷体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2pPr>
            <a:lvl3pPr marL="895350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3pPr>
            <a:lvl4pPr marL="1162050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5pPr>
          </a:lstStyle>
          <a:p>
            <a:pPr marL="188568" indent="-188568">
              <a:lnSpc>
                <a:spcPct val="110000"/>
              </a:lnSpc>
              <a:buClr>
                <a:srgbClr val="B42100"/>
              </a:buClr>
            </a:pPr>
            <a:r>
              <a:rPr kumimoji="1" lang="en-US" altLang="zh-CN" sz="1600" dirty="0">
                <a:ea typeface="PMingLiU" pitchFamily="18" charset="-120"/>
              </a:rPr>
              <a:t>Text</a:t>
            </a:r>
            <a:r>
              <a:rPr kumimoji="1" lang="en-US" altLang="zh-CN" sz="1600" baseline="0" dirty="0">
                <a:ea typeface="PMingLiU" pitchFamily="18" charset="-120"/>
              </a:rPr>
              <a:t> on first level here</a:t>
            </a:r>
            <a:endParaRPr kumimoji="1" lang="en-US" altLang="zh-CN" sz="1600" dirty="0">
              <a:ea typeface="PMingLiU" pitchFamily="18" charset="-120"/>
            </a:endParaRPr>
          </a:p>
          <a:p>
            <a:pPr marL="5270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r>
              <a:rPr lang="en-US" altLang="zh-CN" sz="1600" dirty="0">
                <a:latin typeface="Palatino Linotype" panose="02040502050505030304" pitchFamily="18" charset="0"/>
              </a:rPr>
              <a:t>Second level</a:t>
            </a:r>
          </a:p>
          <a:p>
            <a:pPr marL="895350" lvl="2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Third level</a:t>
            </a:r>
          </a:p>
          <a:p>
            <a:pPr marL="1162050" lvl="3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Content</a:t>
            </a:r>
          </a:p>
          <a:p>
            <a:pPr marL="6286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endParaRPr lang="en-US" altLang="zh-CN" sz="1600" dirty="0">
              <a:latin typeface="Palatino Linotype" panose="02040502050505030304" pitchFamily="18" charset="0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264840" y="296863"/>
            <a:ext cx="936811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085277" y="1376363"/>
            <a:ext cx="4531032" cy="4933950"/>
          </a:xfrm>
        </p:spPr>
        <p:txBody>
          <a:bodyPr/>
          <a:lstStyle>
            <a:lvl1pPr marL="188568" indent="-188568">
              <a:lnSpc>
                <a:spcPct val="110000"/>
              </a:lnSpc>
              <a:buClr>
                <a:srgbClr val="B42100"/>
              </a:buClr>
              <a:defRPr baseline="0">
                <a:latin typeface="Palatino Linotype" panose="02040502050505030304" pitchFamily="18" charset="0"/>
                <a:ea typeface="华文楷体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2pPr>
            <a:lvl3pPr marL="895350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3pPr>
            <a:lvl4pPr marL="1162050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5pPr>
          </a:lstStyle>
          <a:p>
            <a:pPr marL="188568" indent="-188568">
              <a:lnSpc>
                <a:spcPct val="110000"/>
              </a:lnSpc>
              <a:buClr>
                <a:srgbClr val="B42100"/>
              </a:buClr>
            </a:pPr>
            <a:r>
              <a:rPr kumimoji="1" lang="en-US" altLang="zh-CN" sz="1600" dirty="0">
                <a:ea typeface="PMingLiU" pitchFamily="18" charset="-120"/>
              </a:rPr>
              <a:t>Text</a:t>
            </a:r>
            <a:r>
              <a:rPr kumimoji="1" lang="en-US" altLang="zh-CN" sz="1600" baseline="0" dirty="0">
                <a:ea typeface="PMingLiU" pitchFamily="18" charset="-120"/>
              </a:rPr>
              <a:t> on first level here</a:t>
            </a:r>
            <a:endParaRPr kumimoji="1" lang="en-US" altLang="zh-CN" sz="1600" dirty="0">
              <a:ea typeface="PMingLiU" pitchFamily="18" charset="-120"/>
            </a:endParaRPr>
          </a:p>
          <a:p>
            <a:pPr marL="5270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r>
              <a:rPr lang="en-US" altLang="zh-CN" sz="1600" dirty="0">
                <a:latin typeface="Palatino Linotype" panose="02040502050505030304" pitchFamily="18" charset="0"/>
              </a:rPr>
              <a:t>Second level</a:t>
            </a:r>
          </a:p>
          <a:p>
            <a:pPr marL="895350" lvl="2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Third level</a:t>
            </a:r>
          </a:p>
          <a:p>
            <a:pPr marL="1162050" lvl="3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Content</a:t>
            </a:r>
          </a:p>
          <a:p>
            <a:pPr marL="6286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endParaRPr lang="en-US" altLang="zh-CN" sz="1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52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8554087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95" name="think-cell Slide" r:id="rId4" imgW="465" imgH="457" progId="TCLayout.ActiveDocument.1">
                  <p:embed/>
                </p:oleObj>
              </mc:Choice>
              <mc:Fallback>
                <p:oleObj name="think-cell Slide" r:id="rId4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5158" y="2158484"/>
            <a:ext cx="9365380" cy="290849"/>
          </a:xfrm>
          <a:ln>
            <a:noFill/>
          </a:ln>
        </p:spPr>
        <p:txBody>
          <a:bodyPr/>
          <a:lstStyle>
            <a:lvl1pPr marL="172427" indent="-172427">
              <a:buFont typeface="Arial" pitchFamily="34" charset="0"/>
              <a:buChar char="•"/>
              <a:defRPr sz="2100" baseline="0"/>
            </a:lvl1pPr>
            <a:lvl2pPr marL="364012" indent="-191585">
              <a:spcBef>
                <a:spcPts val="629"/>
              </a:spcBef>
              <a:buFont typeface="Arial" pitchFamily="34" charset="0"/>
              <a:buChar char="–"/>
              <a:defRPr sz="2100"/>
            </a:lvl2pPr>
            <a:lvl3pPr marL="507700" indent="-143689">
              <a:spcBef>
                <a:spcPts val="210"/>
              </a:spcBef>
              <a:buFont typeface="Arial" pitchFamily="34" charset="0"/>
              <a:buChar char="-"/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Divider subsections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158" y="1628009"/>
            <a:ext cx="9365310" cy="338406"/>
          </a:xfrm>
          <a:prstGeom prst="rect">
            <a:avLst/>
          </a:prstGeom>
          <a:ln>
            <a:noFill/>
          </a:ln>
        </p:spPr>
        <p:txBody>
          <a:bodyPr lIns="95793" tIns="47896" rIns="95793" bIns="47896"/>
          <a:lstStyle>
            <a:lvl1pPr>
              <a:defRPr baseline="0"/>
            </a:lvl1pPr>
          </a:lstStyle>
          <a:p>
            <a:r>
              <a:rPr lang="en-US" dirty="0"/>
              <a:t>Divider text here</a:t>
            </a:r>
          </a:p>
        </p:txBody>
      </p:sp>
    </p:spTree>
    <p:extLst>
      <p:ext uri="{BB962C8B-B14F-4D97-AF65-F5344CB8AC3E}">
        <p14:creationId xmlns:p14="http://schemas.microsoft.com/office/powerpoint/2010/main" val="87722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714759154"/>
              </p:ext>
            </p:extLst>
          </p:nvPr>
        </p:nvGraphicFramePr>
        <p:xfrm>
          <a:off x="1721" y="1589"/>
          <a:ext cx="1719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5" name="think-cell Slide" r:id="rId9" imgW="270" imgH="270" progId="TCLayout.ActiveDocument.1">
                  <p:embed/>
                </p:oleObj>
              </mc:Choice>
              <mc:Fallback>
                <p:oleObj name="think-cell Slide" r:id="rId9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21" y="1589"/>
                        <a:ext cx="1719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840" y="1376682"/>
            <a:ext cx="9367890" cy="140807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Text on first level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0551" y="6596784"/>
            <a:ext cx="287228" cy="13853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900">
                <a:solidFill>
                  <a:srgbClr val="ADABA1"/>
                </a:solidFill>
              </a:rPr>
              <a:pPr algn="r"/>
              <a:t>‹#›</a:t>
            </a:fld>
            <a:endParaRPr lang="en-US" sz="900" dirty="0">
              <a:solidFill>
                <a:srgbClr val="ADABA1"/>
              </a:solidFill>
            </a:endParaRPr>
          </a:p>
        </p:txBody>
      </p:sp>
      <p:sp>
        <p:nvSpPr>
          <p:cNvPr id="8" name="Line 11"/>
          <p:cNvSpPr>
            <a:spLocks noChangeShapeType="1"/>
          </p:cNvSpPr>
          <p:nvPr userDrawn="1"/>
        </p:nvSpPr>
        <p:spPr bwMode="auto">
          <a:xfrm>
            <a:off x="271464" y="917440"/>
            <a:ext cx="9125694" cy="0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lIns="95793" tIns="47896" rIns="95793" bIns="47896"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Line 11"/>
          <p:cNvSpPr>
            <a:spLocks noChangeShapeType="1"/>
          </p:cNvSpPr>
          <p:nvPr userDrawn="1"/>
        </p:nvSpPr>
        <p:spPr bwMode="auto">
          <a:xfrm rot="16200000">
            <a:off x="144381" y="827726"/>
            <a:ext cx="182604" cy="0"/>
          </a:xfrm>
          <a:prstGeom prst="line">
            <a:avLst/>
          </a:prstGeom>
          <a:noFill/>
          <a:ln w="76200">
            <a:solidFill>
              <a:srgbClr val="B42100"/>
            </a:solidFill>
            <a:round/>
            <a:headEnd/>
            <a:tailEnd/>
          </a:ln>
        </p:spPr>
        <p:txBody>
          <a:bodyPr lIns="95793" tIns="47896" rIns="95793" bIns="47896"/>
          <a:lstStyle/>
          <a:p>
            <a:pPr>
              <a:defRPr/>
            </a:pPr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 userDrawn="1"/>
        </p:nvSpPr>
        <p:spPr bwMode="auto">
          <a:xfrm rot="16200000">
            <a:off x="191478" y="852338"/>
            <a:ext cx="136557" cy="0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</p:spPr>
        <p:txBody>
          <a:bodyPr lIns="95793" tIns="47896" rIns="95793" bIns="47896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12" name="Group 30"/>
          <p:cNvGrpSpPr>
            <a:grpSpLocks/>
          </p:cNvGrpSpPr>
          <p:nvPr userDrawn="1"/>
        </p:nvGrpSpPr>
        <p:grpSpPr bwMode="auto">
          <a:xfrm>
            <a:off x="8955240" y="911089"/>
            <a:ext cx="453952" cy="69866"/>
            <a:chOff x="5208" y="545"/>
            <a:chExt cx="264" cy="44"/>
          </a:xfrm>
        </p:grpSpPr>
        <p:sp>
          <p:nvSpPr>
            <p:cNvPr id="16" name="Rectangle 17"/>
            <p:cNvSpPr>
              <a:spLocks noChangeArrowheads="1"/>
            </p:cNvSpPr>
            <p:nvPr userDrawn="1"/>
          </p:nvSpPr>
          <p:spPr bwMode="auto">
            <a:xfrm rot="10800000" flipH="1" flipV="1">
              <a:off x="5208" y="545"/>
              <a:ext cx="264" cy="44"/>
            </a:xfrm>
            <a:prstGeom prst="rect">
              <a:avLst/>
            </a:prstGeom>
            <a:solidFill>
              <a:srgbClr val="B42100"/>
            </a:solidFill>
            <a:ln>
              <a:noFill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altLang="zh-CN" sz="1000" b="0">
                <a:solidFill>
                  <a:schemeClr val="bg1"/>
                </a:solidFill>
              </a:endParaRPr>
            </a:p>
          </p:txBody>
        </p:sp>
        <p:sp>
          <p:nvSpPr>
            <p:cNvPr id="17" name="Rectangle 22"/>
            <p:cNvSpPr>
              <a:spLocks noChangeArrowheads="1"/>
            </p:cNvSpPr>
            <p:nvPr userDrawn="1"/>
          </p:nvSpPr>
          <p:spPr bwMode="auto">
            <a:xfrm rot="10800000">
              <a:off x="5208" y="545"/>
              <a:ext cx="240" cy="27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ffectLst/>
          </p:spPr>
          <p:txBody>
            <a:bodyPr rot="10800000" anchor="ctr"/>
            <a:lstStyle/>
            <a:p>
              <a:pPr algn="r">
                <a:defRPr/>
              </a:pPr>
              <a:endParaRPr lang="en-US" altLang="zh-CN" sz="200" b="0">
                <a:solidFill>
                  <a:schemeClr val="bg1"/>
                </a:solidFill>
              </a:endParaRPr>
            </a:p>
          </p:txBody>
        </p:sp>
      </p:grpSp>
      <p:sp>
        <p:nvSpPr>
          <p:cNvPr id="1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704596" y="6505766"/>
            <a:ext cx="495221" cy="1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793" tIns="47896" rIns="95793" bIns="47896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20000"/>
              </a:spcBef>
              <a:buClr>
                <a:schemeClr val="accent1"/>
              </a:buClr>
              <a:buSzPct val="85000"/>
              <a:buFontTx/>
              <a:buChar char="-"/>
              <a:defRPr sz="800" b="0" smtClean="0">
                <a:solidFill>
                  <a:srgbClr val="937632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- </a:t>
            </a:r>
            <a:fld id="{D196C2D1-191C-4448-BECC-17644327C254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 -</a:t>
            </a:r>
          </a:p>
        </p:txBody>
      </p:sp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264840" y="296863"/>
            <a:ext cx="936811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117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  <p:sldLayoutId id="2147483662" r:id="rId4"/>
    <p:sldLayoutId id="2147483663" r:id="rId5"/>
  </p:sldLayoutIdLst>
  <p:hf sldNum="0" hdr="0" ftr="0" dt="0"/>
  <p:txStyles>
    <p:titleStyle>
      <a:lvl1pPr marL="0" indent="0" algn="l" defTabSz="957925" rtl="0" eaLnBrk="1" latinLnBrk="0" hangingPunct="1">
        <a:lnSpc>
          <a:spcPct val="90000"/>
        </a:lnSpc>
        <a:spcBef>
          <a:spcPct val="0"/>
        </a:spcBef>
        <a:buNone/>
        <a:defRPr sz="2500" b="0" kern="1200" baseline="0">
          <a:solidFill>
            <a:schemeClr val="tx1"/>
          </a:solidFill>
          <a:latin typeface="Palatino Linotype" panose="02040502050505030304" pitchFamily="18" charset="0"/>
          <a:ea typeface="+mj-ea"/>
          <a:cs typeface="Arial" pitchFamily="34" charset="0"/>
        </a:defRPr>
      </a:lvl1pPr>
    </p:titleStyle>
    <p:bodyStyle>
      <a:lvl1pPr marL="188568" indent="-188568" algn="l" defTabSz="957925" rtl="0" eaLnBrk="1" latinLnBrk="0" hangingPunct="1">
        <a:lnSpc>
          <a:spcPct val="90000"/>
        </a:lnSpc>
        <a:spcBef>
          <a:spcPts val="1467"/>
        </a:spcBef>
        <a:buClr>
          <a:schemeClr val="bg2"/>
        </a:buClr>
        <a:buSzPct val="100000"/>
        <a:buFont typeface="Arial" pitchFamily="34" charset="0"/>
        <a:buChar char="■"/>
        <a:defRPr sz="1700" kern="1200">
          <a:solidFill>
            <a:schemeClr val="tx1"/>
          </a:solidFill>
          <a:latin typeface="Palatino Linotype" panose="02040502050505030304" pitchFamily="18" charset="0"/>
          <a:ea typeface="+mn-ea"/>
          <a:cs typeface="Arial" pitchFamily="34" charset="0"/>
        </a:defRPr>
      </a:lvl1pPr>
      <a:lvl2pPr marL="325695" indent="-134110" algn="l" defTabSz="957925" rtl="0" eaLnBrk="1" latinLnBrk="0" hangingPunct="1">
        <a:lnSpc>
          <a:spcPct val="90000"/>
        </a:lnSpc>
        <a:spcBef>
          <a:spcPts val="943"/>
        </a:spcBef>
        <a:buClr>
          <a:schemeClr val="bg2"/>
        </a:buClr>
        <a:buFont typeface="Arial" pitchFamily="34" charset="0"/>
        <a:buChar char="•"/>
        <a:defRPr sz="1700" kern="1200">
          <a:solidFill>
            <a:schemeClr val="tx1"/>
          </a:solidFill>
          <a:latin typeface="Palatino Linotype" panose="02040502050505030304" pitchFamily="18" charset="0"/>
          <a:ea typeface="+mn-ea"/>
          <a:cs typeface="Arial" pitchFamily="34" charset="0"/>
        </a:defRPr>
      </a:lvl2pPr>
      <a:lvl3pPr marL="512905" indent="-188568" algn="l" defTabSz="957925" rtl="0" eaLnBrk="1" latinLnBrk="0" hangingPunct="1">
        <a:lnSpc>
          <a:spcPct val="90000"/>
        </a:lnSpc>
        <a:spcBef>
          <a:spcPts val="629"/>
        </a:spcBef>
        <a:buClr>
          <a:schemeClr val="bg2"/>
        </a:buClr>
        <a:buFont typeface="Arial" pitchFamily="34" charset="0"/>
        <a:buChar char="–"/>
        <a:defRPr sz="1700" kern="1200">
          <a:solidFill>
            <a:schemeClr val="tx1"/>
          </a:solidFill>
          <a:latin typeface="Palatino Linotype" panose="02040502050505030304" pitchFamily="18" charset="0"/>
          <a:ea typeface="+mn-ea"/>
          <a:cs typeface="Arial" pitchFamily="34" charset="0"/>
        </a:defRPr>
      </a:lvl3pPr>
      <a:lvl4pPr marL="663759" indent="-143689" algn="l" defTabSz="957925" rtl="0" eaLnBrk="1" latinLnBrk="0" hangingPunct="1">
        <a:lnSpc>
          <a:spcPct val="90000"/>
        </a:lnSpc>
        <a:spcBef>
          <a:spcPts val="210"/>
        </a:spcBef>
        <a:buClr>
          <a:schemeClr val="bg2"/>
        </a:buClr>
        <a:buFont typeface="Arial" pitchFamily="34" charset="0"/>
        <a:buChar char="-"/>
        <a:defRPr sz="1700" kern="1200">
          <a:solidFill>
            <a:schemeClr val="tx1"/>
          </a:solidFill>
          <a:latin typeface="Palatino Linotype" panose="02040502050505030304" pitchFamily="18" charset="0"/>
          <a:ea typeface="+mn-ea"/>
          <a:cs typeface="Arial" pitchFamily="34" charset="0"/>
        </a:defRPr>
      </a:lvl4pPr>
      <a:lvl5pPr marL="807071" indent="-143312" algn="l" defTabSz="957925" rtl="0" eaLnBrk="1" latinLnBrk="0" hangingPunct="1">
        <a:lnSpc>
          <a:spcPct val="90000"/>
        </a:lnSpc>
        <a:spcBef>
          <a:spcPts val="105"/>
        </a:spcBef>
        <a:buClr>
          <a:schemeClr val="bg2"/>
        </a:buClr>
        <a:buFont typeface="Arial" pitchFamily="34" charset="0"/>
        <a:buChar char="-"/>
        <a:defRPr sz="1700" kern="1200">
          <a:solidFill>
            <a:schemeClr val="tx1"/>
          </a:solidFill>
          <a:latin typeface="Palatino Linotype" panose="02040502050505030304" pitchFamily="18" charset="0"/>
          <a:ea typeface="+mn-ea"/>
          <a:cs typeface="Arial" pitchFamily="34" charset="0"/>
        </a:defRPr>
      </a:lvl5pPr>
      <a:lvl6pPr marL="2634295" indent="-239481" algn="l" defTabSz="957925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3258" indent="-239481" algn="l" defTabSz="957925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2220" indent="-239481" algn="l" defTabSz="957925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1183" indent="-239481" algn="l" defTabSz="957925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63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925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888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851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814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776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739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702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10.png"/><Relationship Id="rId18" Type="http://schemas.openxmlformats.org/officeDocument/2006/relationships/image" Target="../media/image28.svg"/><Relationship Id="rId3" Type="http://schemas.openxmlformats.org/officeDocument/2006/relationships/image" Target="../media/image14.png"/><Relationship Id="rId21" Type="http://schemas.openxmlformats.org/officeDocument/2006/relationships/image" Target="../media/image31.sv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svg"/><Relationship Id="rId20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10" Type="http://schemas.openxmlformats.org/officeDocument/2006/relationships/image" Target="../media/image21.svg"/><Relationship Id="rId19" Type="http://schemas.openxmlformats.org/officeDocument/2006/relationships/image" Target="../media/image29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17.sv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.png"/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12" Type="http://schemas.openxmlformats.org/officeDocument/2006/relationships/image" Target="../media/image43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5" Type="http://schemas.openxmlformats.org/officeDocument/2006/relationships/image" Target="../media/image6.png"/><Relationship Id="rId10" Type="http://schemas.openxmlformats.org/officeDocument/2006/relationships/image" Target="../media/image41.svg"/><Relationship Id="rId4" Type="http://schemas.openxmlformats.org/officeDocument/2006/relationships/image" Target="../media/image17.svg"/><Relationship Id="rId9" Type="http://schemas.openxmlformats.org/officeDocument/2006/relationships/image" Target="../media/image8.png"/><Relationship Id="rId1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6.png"/><Relationship Id="rId7" Type="http://schemas.openxmlformats.org/officeDocument/2006/relationships/image" Target="../media/image4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8.png"/><Relationship Id="rId5" Type="http://schemas.openxmlformats.org/officeDocument/2006/relationships/image" Target="../media/image16.png"/><Relationship Id="rId10" Type="http://schemas.openxmlformats.org/officeDocument/2006/relationships/image" Target="../media/image46.svg"/><Relationship Id="rId4" Type="http://schemas.openxmlformats.org/officeDocument/2006/relationships/image" Target="../media/image7.sv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55.png"/><Relationship Id="rId18" Type="http://schemas.openxmlformats.org/officeDocument/2006/relationships/image" Target="../media/image60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4.sv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8.svg"/><Relationship Id="rId20" Type="http://schemas.openxmlformats.org/officeDocument/2006/relationships/image" Target="../media/image6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11" Type="http://schemas.openxmlformats.org/officeDocument/2006/relationships/image" Target="../media/image53.png"/><Relationship Id="rId5" Type="http://schemas.openxmlformats.org/officeDocument/2006/relationships/image" Target="../media/image49.png"/><Relationship Id="rId15" Type="http://schemas.openxmlformats.org/officeDocument/2006/relationships/image" Target="../media/image57.png"/><Relationship Id="rId10" Type="http://schemas.openxmlformats.org/officeDocument/2006/relationships/image" Target="../media/image40.svg"/><Relationship Id="rId19" Type="http://schemas.openxmlformats.org/officeDocument/2006/relationships/image" Target="../media/image61.png"/><Relationship Id="rId4" Type="http://schemas.openxmlformats.org/officeDocument/2006/relationships/image" Target="../media/image48.svg"/><Relationship Id="rId9" Type="http://schemas.openxmlformats.org/officeDocument/2006/relationships/image" Target="../media/image27.png"/><Relationship Id="rId14" Type="http://schemas.openxmlformats.org/officeDocument/2006/relationships/image" Target="../media/image5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70.svg"/><Relationship Id="rId4" Type="http://schemas.openxmlformats.org/officeDocument/2006/relationships/image" Target="../media/image15.svg"/><Relationship Id="rId9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78217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0" name="think-cell Slide" r:id="rId4" imgW="465" imgH="457" progId="TCLayout.ActiveDocument.1">
                  <p:embed/>
                </p:oleObj>
              </mc:Choice>
              <mc:Fallback>
                <p:oleObj name="think-cell Slide" r:id="rId4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3980098" y="5193990"/>
            <a:ext cx="1950744" cy="369332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2400" dirty="0"/>
              <a:t>Y</a:t>
            </a:r>
            <a:r>
              <a:rPr lang="en-US" altLang="zh-CN" sz="2400" dirty="0"/>
              <a:t>iming Jiang</a:t>
            </a:r>
            <a:endParaRPr lang="en-US" sz="2400" dirty="0"/>
          </a:p>
        </p:txBody>
      </p:sp>
      <p:sp>
        <p:nvSpPr>
          <p:cNvPr id="10" name="标题 4">
            <a:extLst>
              <a:ext uri="{FF2B5EF4-FFF2-40B4-BE49-F238E27FC236}">
                <a16:creationId xmlns:a16="http://schemas.microsoft.com/office/drawing/2014/main" id="{4359DEE7-B8A1-E542-9DF8-D297C0303428}"/>
              </a:ext>
            </a:extLst>
          </p:cNvPr>
          <p:cNvSpPr txBox="1">
            <a:spLocks/>
          </p:cNvSpPr>
          <p:nvPr/>
        </p:nvSpPr>
        <p:spPr bwMode="auto">
          <a:xfrm>
            <a:off x="163674" y="2205658"/>
            <a:ext cx="9812747" cy="1002769"/>
          </a:xfrm>
          <a:prstGeom prst="rect">
            <a:avLst/>
          </a:prstGeom>
          <a:noFill/>
          <a:ln w="6350" cap="flat">
            <a:noFill/>
            <a:miter lim="800000"/>
            <a:headEnd/>
            <a:tailEnd/>
          </a:ln>
        </p:spPr>
        <p:txBody>
          <a:bodyPr vert="horz" wrap="square" lIns="95793" tIns="47896" rIns="95793" bIns="47896" numCol="1" anchor="ctr" anchorCtr="0" compatLnSpc="1">
            <a:prstTxWarp prst="textNoShape">
              <a:avLst/>
            </a:prstTxWarp>
          </a:bodyPr>
          <a:lstStyle>
            <a:lvl1pPr marL="0" indent="0" algn="l" defTabSz="95792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2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Design of an online trading platform mechanism based on blockchain technology in China</a:t>
            </a:r>
            <a:endParaRPr lang="en-CN" sz="3200" dirty="0">
              <a:effectLst/>
              <a:latin typeface="Palatino Linotype" panose="0204050205050503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占位符 8">
            <a:extLst>
              <a:ext uri="{FF2B5EF4-FFF2-40B4-BE49-F238E27FC236}">
                <a16:creationId xmlns:a16="http://schemas.microsoft.com/office/drawing/2014/main" id="{06A902E9-7BB4-6A4F-A437-AC50CC36D2AE}"/>
              </a:ext>
            </a:extLst>
          </p:cNvPr>
          <p:cNvSpPr txBox="1">
            <a:spLocks/>
          </p:cNvSpPr>
          <p:nvPr/>
        </p:nvSpPr>
        <p:spPr>
          <a:xfrm>
            <a:off x="4228862" y="5903617"/>
            <a:ext cx="1446689" cy="30777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57925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Arial" pitchFamily="34" charset="0"/>
              </a:defRPr>
            </a:lvl1pPr>
            <a:lvl2pPr marL="191585" indent="0" algn="l" defTabSz="957925" rtl="0" eaLnBrk="1" latinLnBrk="0" hangingPunct="1">
              <a:lnSpc>
                <a:spcPct val="90000"/>
              </a:lnSpc>
              <a:spcBef>
                <a:spcPts val="943"/>
              </a:spcBef>
              <a:buClr>
                <a:schemeClr val="bg2"/>
              </a:buClr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Arial" pitchFamily="34" charset="0"/>
              </a:defRPr>
            </a:lvl2pPr>
            <a:lvl3pPr marL="338624" indent="0" algn="l" defTabSz="957925" rtl="0" eaLnBrk="1" latinLnBrk="0" hangingPunct="1">
              <a:lnSpc>
                <a:spcPct val="90000"/>
              </a:lnSpc>
              <a:spcBef>
                <a:spcPts val="629"/>
              </a:spcBef>
              <a:buClr>
                <a:schemeClr val="bg2"/>
              </a:buClr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Arial" pitchFamily="34" charset="0"/>
              </a:defRPr>
            </a:lvl3pPr>
            <a:lvl4pPr marL="535156" indent="0" algn="l" defTabSz="957925" rtl="0" eaLnBrk="1" latinLnBrk="0" hangingPunct="1">
              <a:lnSpc>
                <a:spcPct val="90000"/>
              </a:lnSpc>
              <a:spcBef>
                <a:spcPts val="210"/>
              </a:spcBef>
              <a:buClr>
                <a:schemeClr val="bg2"/>
              </a:buClr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Arial" pitchFamily="34" charset="0"/>
              </a:defRPr>
            </a:lvl4pPr>
            <a:lvl5pPr marL="686388" indent="0" algn="l" defTabSz="957925" rtl="0" eaLnBrk="1" latinLnBrk="0" hangingPunct="1">
              <a:lnSpc>
                <a:spcPct val="90000"/>
              </a:lnSpc>
              <a:spcBef>
                <a:spcPts val="105"/>
              </a:spcBef>
              <a:buClr>
                <a:schemeClr val="bg2"/>
              </a:buClr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Arial" pitchFamily="34" charset="0"/>
              </a:defRPr>
            </a:lvl5pPr>
            <a:lvl6pPr marL="2634295" indent="-239481" algn="l" defTabSz="957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3258" indent="-239481" algn="l" defTabSz="957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2220" indent="-239481" algn="l" defTabSz="957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1183" indent="-239481" algn="l" defTabSz="957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000" dirty="0"/>
              <a:t>2024.11.07</a:t>
            </a:r>
          </a:p>
        </p:txBody>
      </p:sp>
    </p:spTree>
    <p:extLst>
      <p:ext uri="{BB962C8B-B14F-4D97-AF65-F5344CB8AC3E}">
        <p14:creationId xmlns:p14="http://schemas.microsoft.com/office/powerpoint/2010/main" val="134124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箭头: 左弧形 22">
            <a:extLst>
              <a:ext uri="{FF2B5EF4-FFF2-40B4-BE49-F238E27FC236}">
                <a16:creationId xmlns:a16="http://schemas.microsoft.com/office/drawing/2014/main" id="{240350FD-ED9C-4E88-96C5-AEC2860D9219}"/>
              </a:ext>
            </a:extLst>
          </p:cNvPr>
          <p:cNvSpPr/>
          <p:nvPr/>
        </p:nvSpPr>
        <p:spPr>
          <a:xfrm rot="5400000" flipH="1">
            <a:off x="4834793" y="2450423"/>
            <a:ext cx="448883" cy="7342852"/>
          </a:xfrm>
          <a:prstGeom prst="curvedRightArrow">
            <a:avLst/>
          </a:prstGeom>
          <a:solidFill>
            <a:schemeClr val="bg1">
              <a:lumMod val="7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946C7149-9E9A-46F0-9925-0CD1D9B17B08}"/>
              </a:ext>
            </a:extLst>
          </p:cNvPr>
          <p:cNvSpPr/>
          <p:nvPr/>
        </p:nvSpPr>
        <p:spPr>
          <a:xfrm>
            <a:off x="468715" y="3928545"/>
            <a:ext cx="1617470" cy="5868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Incomplete Asymmetric-Key</a:t>
            </a:r>
            <a:endParaRPr lang="en-C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ounded Rectangle 20">
            <a:extLst>
              <a:ext uri="{FF2B5EF4-FFF2-40B4-BE49-F238E27FC236}">
                <a16:creationId xmlns:a16="http://schemas.microsoft.com/office/drawing/2014/main" id="{986BCD7C-DDA5-4128-B54F-62C243287A3E}"/>
              </a:ext>
            </a:extLst>
          </p:cNvPr>
          <p:cNvSpPr/>
          <p:nvPr/>
        </p:nvSpPr>
        <p:spPr>
          <a:xfrm>
            <a:off x="2463461" y="3938613"/>
            <a:ext cx="1120203" cy="5868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locks</a:t>
            </a:r>
            <a:endParaRPr lang="en-C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02" y="369454"/>
            <a:ext cx="7236804" cy="54006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Mechanism architecture</a:t>
            </a:r>
          </a:p>
        </p:txBody>
      </p:sp>
      <p:sp>
        <p:nvSpPr>
          <p:cNvPr id="34" name="Rounded Rectangle 20">
            <a:extLst>
              <a:ext uri="{FF2B5EF4-FFF2-40B4-BE49-F238E27FC236}">
                <a16:creationId xmlns:a16="http://schemas.microsoft.com/office/drawing/2014/main" id="{3BB79896-30C9-4C13-B924-ED4CAFDA38CA}"/>
              </a:ext>
            </a:extLst>
          </p:cNvPr>
          <p:cNvSpPr/>
          <p:nvPr/>
        </p:nvSpPr>
        <p:spPr>
          <a:xfrm>
            <a:off x="464617" y="3238955"/>
            <a:ext cx="5118045" cy="5868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lockchain</a:t>
            </a:r>
            <a:endParaRPr lang="en-C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圆柱体 4">
            <a:extLst>
              <a:ext uri="{FF2B5EF4-FFF2-40B4-BE49-F238E27FC236}">
                <a16:creationId xmlns:a16="http://schemas.microsoft.com/office/drawing/2014/main" id="{8D2E3F37-8D1A-446B-A4AE-6D918D0E24CC}"/>
              </a:ext>
            </a:extLst>
          </p:cNvPr>
          <p:cNvSpPr/>
          <p:nvPr/>
        </p:nvSpPr>
        <p:spPr>
          <a:xfrm>
            <a:off x="883754" y="5022560"/>
            <a:ext cx="1190292" cy="586883"/>
          </a:xfrm>
          <a:prstGeom prst="can">
            <a:avLst>
              <a:gd name="adj" fmla="val 15969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859"/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Buyer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圆柱体 4">
            <a:extLst>
              <a:ext uri="{FF2B5EF4-FFF2-40B4-BE49-F238E27FC236}">
                <a16:creationId xmlns:a16="http://schemas.microsoft.com/office/drawing/2014/main" id="{D9BEFA9B-C5DE-4D1E-9CA6-B524F95821C6}"/>
              </a:ext>
            </a:extLst>
          </p:cNvPr>
          <p:cNvSpPr/>
          <p:nvPr/>
        </p:nvSpPr>
        <p:spPr>
          <a:xfrm>
            <a:off x="7777594" y="5022560"/>
            <a:ext cx="1190292" cy="586883"/>
          </a:xfrm>
          <a:prstGeom prst="can">
            <a:avLst>
              <a:gd name="adj" fmla="val 15969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859"/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Seller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Rounded Rectangle 20">
            <a:extLst>
              <a:ext uri="{FF2B5EF4-FFF2-40B4-BE49-F238E27FC236}">
                <a16:creationId xmlns:a16="http://schemas.microsoft.com/office/drawing/2014/main" id="{A75F3BC4-2F86-4182-9FF1-A7BC25AFBECC}"/>
              </a:ext>
            </a:extLst>
          </p:cNvPr>
          <p:cNvSpPr/>
          <p:nvPr/>
        </p:nvSpPr>
        <p:spPr>
          <a:xfrm>
            <a:off x="468715" y="2518876"/>
            <a:ext cx="9031707" cy="5868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Trading Platform</a:t>
            </a:r>
            <a:endParaRPr lang="en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ounded Rectangle 20">
            <a:extLst>
              <a:ext uri="{FF2B5EF4-FFF2-40B4-BE49-F238E27FC236}">
                <a16:creationId xmlns:a16="http://schemas.microsoft.com/office/drawing/2014/main" id="{2EFC1A74-837B-42CB-8DDB-7F0F47F8AE7B}"/>
              </a:ext>
            </a:extLst>
          </p:cNvPr>
          <p:cNvSpPr/>
          <p:nvPr/>
        </p:nvSpPr>
        <p:spPr>
          <a:xfrm>
            <a:off x="3965192" y="3938658"/>
            <a:ext cx="1617470" cy="5868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Consensus Models</a:t>
            </a:r>
            <a:endParaRPr lang="en-C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F35A6BB9-6EBE-47DB-BF8A-116545D0B337}"/>
              </a:ext>
            </a:extLst>
          </p:cNvPr>
          <p:cNvSpPr/>
          <p:nvPr/>
        </p:nvSpPr>
        <p:spPr>
          <a:xfrm>
            <a:off x="5836077" y="3938658"/>
            <a:ext cx="3664345" cy="5868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embership</a:t>
            </a:r>
            <a:endParaRPr lang="en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ounded Rectangle 20">
            <a:extLst>
              <a:ext uri="{FF2B5EF4-FFF2-40B4-BE49-F238E27FC236}">
                <a16:creationId xmlns:a16="http://schemas.microsoft.com/office/drawing/2014/main" id="{8CA62462-1EED-413D-84BD-48A921EC4186}"/>
              </a:ext>
            </a:extLst>
          </p:cNvPr>
          <p:cNvSpPr/>
          <p:nvPr/>
        </p:nvSpPr>
        <p:spPr>
          <a:xfrm>
            <a:off x="5836077" y="3238956"/>
            <a:ext cx="1964067" cy="5868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Physical Transactions</a:t>
            </a:r>
            <a:endParaRPr lang="en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ounded Rectangle 20">
            <a:extLst>
              <a:ext uri="{FF2B5EF4-FFF2-40B4-BE49-F238E27FC236}">
                <a16:creationId xmlns:a16="http://schemas.microsoft.com/office/drawing/2014/main" id="{657D43F3-9898-484B-97C5-60EF86D8FEB0}"/>
              </a:ext>
            </a:extLst>
          </p:cNvPr>
          <p:cNvSpPr/>
          <p:nvPr/>
        </p:nvSpPr>
        <p:spPr>
          <a:xfrm>
            <a:off x="7882952" y="3238957"/>
            <a:ext cx="1617470" cy="5868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 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Sellers</a:t>
            </a:r>
            <a:endParaRPr lang="en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ight Arrow 46">
            <a:extLst>
              <a:ext uri="{FF2B5EF4-FFF2-40B4-BE49-F238E27FC236}">
                <a16:creationId xmlns:a16="http://schemas.microsoft.com/office/drawing/2014/main" id="{F51C91C3-569B-499F-BD6F-EF0697676660}"/>
              </a:ext>
            </a:extLst>
          </p:cNvPr>
          <p:cNvSpPr/>
          <p:nvPr/>
        </p:nvSpPr>
        <p:spPr>
          <a:xfrm>
            <a:off x="3626280" y="4124377"/>
            <a:ext cx="321203" cy="21544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CN" sz="1400" dirty="0" err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Right Arrow 46">
            <a:extLst>
              <a:ext uri="{FF2B5EF4-FFF2-40B4-BE49-F238E27FC236}">
                <a16:creationId xmlns:a16="http://schemas.microsoft.com/office/drawing/2014/main" id="{5BC21832-D81A-415C-AAC4-5465AF21C6E7}"/>
              </a:ext>
            </a:extLst>
          </p:cNvPr>
          <p:cNvSpPr/>
          <p:nvPr/>
        </p:nvSpPr>
        <p:spPr>
          <a:xfrm>
            <a:off x="2112096" y="4128075"/>
            <a:ext cx="321203" cy="21544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CN" sz="1400" dirty="0" err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Rectangle 99">
            <a:extLst>
              <a:ext uri="{FF2B5EF4-FFF2-40B4-BE49-F238E27FC236}">
                <a16:creationId xmlns:a16="http://schemas.microsoft.com/office/drawing/2014/main" id="{528AB0C5-31DA-47D7-BA8D-C8028BE58563}"/>
              </a:ext>
            </a:extLst>
          </p:cNvPr>
          <p:cNvSpPr/>
          <p:nvPr/>
        </p:nvSpPr>
        <p:spPr>
          <a:xfrm>
            <a:off x="283812" y="2397533"/>
            <a:ext cx="9420922" cy="2268080"/>
          </a:xfrm>
          <a:prstGeom prst="rect">
            <a:avLst/>
          </a:prstGeom>
          <a:noFill/>
          <a:ln w="190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CN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箭头: 左弧形 48">
            <a:extLst>
              <a:ext uri="{FF2B5EF4-FFF2-40B4-BE49-F238E27FC236}">
                <a16:creationId xmlns:a16="http://schemas.microsoft.com/office/drawing/2014/main" id="{45655AE3-704F-4EF9-B3E1-607243AD0FD7}"/>
              </a:ext>
            </a:extLst>
          </p:cNvPr>
          <p:cNvSpPr/>
          <p:nvPr/>
        </p:nvSpPr>
        <p:spPr>
          <a:xfrm rot="16200000" flipH="1">
            <a:off x="4876229" y="1242956"/>
            <a:ext cx="641209" cy="7342853"/>
          </a:xfrm>
          <a:prstGeom prst="curvedRightArrow">
            <a:avLst/>
          </a:prstGeom>
          <a:solidFill>
            <a:schemeClr val="bg1">
              <a:lumMod val="7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圆柱体 4">
            <a:extLst>
              <a:ext uri="{FF2B5EF4-FFF2-40B4-BE49-F238E27FC236}">
                <a16:creationId xmlns:a16="http://schemas.microsoft.com/office/drawing/2014/main" id="{7911BD22-CD22-45FD-94D1-8E8A08E62176}"/>
              </a:ext>
            </a:extLst>
          </p:cNvPr>
          <p:cNvSpPr/>
          <p:nvPr/>
        </p:nvSpPr>
        <p:spPr>
          <a:xfrm>
            <a:off x="1036154" y="5174960"/>
            <a:ext cx="1190292" cy="586883"/>
          </a:xfrm>
          <a:prstGeom prst="can">
            <a:avLst>
              <a:gd name="adj" fmla="val 15969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859"/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Buyer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圆柱体 4">
            <a:extLst>
              <a:ext uri="{FF2B5EF4-FFF2-40B4-BE49-F238E27FC236}">
                <a16:creationId xmlns:a16="http://schemas.microsoft.com/office/drawing/2014/main" id="{C51658BE-7E0A-4DA1-93C1-0F3BDB2E5364}"/>
              </a:ext>
            </a:extLst>
          </p:cNvPr>
          <p:cNvSpPr/>
          <p:nvPr/>
        </p:nvSpPr>
        <p:spPr>
          <a:xfrm>
            <a:off x="1188554" y="5327360"/>
            <a:ext cx="1190292" cy="586883"/>
          </a:xfrm>
          <a:prstGeom prst="can">
            <a:avLst>
              <a:gd name="adj" fmla="val 15969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859"/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Buyer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圆柱体 4">
            <a:extLst>
              <a:ext uri="{FF2B5EF4-FFF2-40B4-BE49-F238E27FC236}">
                <a16:creationId xmlns:a16="http://schemas.microsoft.com/office/drawing/2014/main" id="{8501BD37-568A-4DC1-89EC-61BD95BA20D6}"/>
              </a:ext>
            </a:extLst>
          </p:cNvPr>
          <p:cNvSpPr/>
          <p:nvPr/>
        </p:nvSpPr>
        <p:spPr>
          <a:xfrm>
            <a:off x="7929994" y="5174960"/>
            <a:ext cx="1190292" cy="586883"/>
          </a:xfrm>
          <a:prstGeom prst="can">
            <a:avLst>
              <a:gd name="adj" fmla="val 15969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859"/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Seller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圆柱体 4">
            <a:extLst>
              <a:ext uri="{FF2B5EF4-FFF2-40B4-BE49-F238E27FC236}">
                <a16:creationId xmlns:a16="http://schemas.microsoft.com/office/drawing/2014/main" id="{C05C62C3-7907-4291-9B74-227A755031B6}"/>
              </a:ext>
            </a:extLst>
          </p:cNvPr>
          <p:cNvSpPr/>
          <p:nvPr/>
        </p:nvSpPr>
        <p:spPr>
          <a:xfrm>
            <a:off x="8082394" y="5327360"/>
            <a:ext cx="1190292" cy="586883"/>
          </a:xfrm>
          <a:prstGeom prst="can">
            <a:avLst>
              <a:gd name="adj" fmla="val 15969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859"/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Seller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55">
            <a:extLst>
              <a:ext uri="{FF2B5EF4-FFF2-40B4-BE49-F238E27FC236}">
                <a16:creationId xmlns:a16="http://schemas.microsoft.com/office/drawing/2014/main" id="{63D8B026-14D9-4ED4-ABC3-48F7E4C30F17}"/>
              </a:ext>
            </a:extLst>
          </p:cNvPr>
          <p:cNvSpPr/>
          <p:nvPr/>
        </p:nvSpPr>
        <p:spPr>
          <a:xfrm>
            <a:off x="3113584" y="5319494"/>
            <a:ext cx="1598150" cy="58688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Accounting C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</a:t>
            </a:r>
            <a:endParaRPr lang="en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55">
            <a:extLst>
              <a:ext uri="{FF2B5EF4-FFF2-40B4-BE49-F238E27FC236}">
                <a16:creationId xmlns:a16="http://schemas.microsoft.com/office/drawing/2014/main" id="{7E3852CB-383A-4719-8E38-40D927921812}"/>
              </a:ext>
            </a:extLst>
          </p:cNvPr>
          <p:cNvSpPr/>
          <p:nvPr/>
        </p:nvSpPr>
        <p:spPr>
          <a:xfrm>
            <a:off x="5038115" y="5327187"/>
            <a:ext cx="1923632" cy="58688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Discrimination</a:t>
            </a:r>
            <a:endParaRPr lang="en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82">
            <a:extLst>
              <a:ext uri="{FF2B5EF4-FFF2-40B4-BE49-F238E27FC236}">
                <a16:creationId xmlns:a16="http://schemas.microsoft.com/office/drawing/2014/main" id="{6A6C1EC5-40BF-4DFB-A070-6538A77B3FA6}"/>
              </a:ext>
            </a:extLst>
          </p:cNvPr>
          <p:cNvSpPr txBox="1"/>
          <p:nvPr/>
        </p:nvSpPr>
        <p:spPr>
          <a:xfrm>
            <a:off x="3903746" y="6437801"/>
            <a:ext cx="2122764" cy="32316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commodities</a:t>
            </a:r>
            <a:endParaRPr lang="en-CN" sz="15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82">
            <a:extLst>
              <a:ext uri="{FF2B5EF4-FFF2-40B4-BE49-F238E27FC236}">
                <a16:creationId xmlns:a16="http://schemas.microsoft.com/office/drawing/2014/main" id="{A8BC9B9A-71EE-4870-9484-DB0E451B0C5C}"/>
              </a:ext>
            </a:extLst>
          </p:cNvPr>
          <p:cNvSpPr txBox="1"/>
          <p:nvPr/>
        </p:nvSpPr>
        <p:spPr>
          <a:xfrm>
            <a:off x="3873558" y="5014841"/>
            <a:ext cx="2122764" cy="32316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  <a:endParaRPr lang="en-CN" sz="15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形 25">
            <a:extLst>
              <a:ext uri="{FF2B5EF4-FFF2-40B4-BE49-F238E27FC236}">
                <a16:creationId xmlns:a16="http://schemas.microsoft.com/office/drawing/2014/main" id="{90669567-2030-410D-92D6-D7E3FD9551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817" y="4545745"/>
            <a:ext cx="648245" cy="648245"/>
          </a:xfrm>
          <a:prstGeom prst="rect">
            <a:avLst/>
          </a:prstGeom>
        </p:spPr>
      </p:pic>
      <p:pic>
        <p:nvPicPr>
          <p:cNvPr id="27" name="图形 26">
            <a:extLst>
              <a:ext uri="{FF2B5EF4-FFF2-40B4-BE49-F238E27FC236}">
                <a16:creationId xmlns:a16="http://schemas.microsoft.com/office/drawing/2014/main" id="{926A9C43-DD4A-4CCC-B8D4-6EC6D84A00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6770" y="6022255"/>
            <a:ext cx="523558" cy="523558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B71F72E8-A0B5-46CA-96BB-62BC383599D6}"/>
              </a:ext>
            </a:extLst>
          </p:cNvPr>
          <p:cNvSpPr txBox="1"/>
          <p:nvPr/>
        </p:nvSpPr>
        <p:spPr>
          <a:xfrm>
            <a:off x="307690" y="909514"/>
            <a:ext cx="9239516" cy="179414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online trading platform in China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accounting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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Data storage cost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transparency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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Price discrimination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33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02" y="369454"/>
            <a:ext cx="7236804" cy="54006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Data Storage and Usage Permissions</a:t>
            </a:r>
          </a:p>
        </p:txBody>
      </p:sp>
      <p:sp>
        <p:nvSpPr>
          <p:cNvPr id="79" name="Right Arrow 49">
            <a:extLst>
              <a:ext uri="{FF2B5EF4-FFF2-40B4-BE49-F238E27FC236}">
                <a16:creationId xmlns:a16="http://schemas.microsoft.com/office/drawing/2014/main" id="{4519386F-3469-4B3A-8567-A908C108BD01}"/>
              </a:ext>
            </a:extLst>
          </p:cNvPr>
          <p:cNvSpPr/>
          <p:nvPr/>
        </p:nvSpPr>
        <p:spPr>
          <a:xfrm rot="16200000">
            <a:off x="2629489" y="5451162"/>
            <a:ext cx="456285" cy="35235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CN" sz="1400" dirty="0" err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Rounded Rectangle 20">
            <a:extLst>
              <a:ext uri="{FF2B5EF4-FFF2-40B4-BE49-F238E27FC236}">
                <a16:creationId xmlns:a16="http://schemas.microsoft.com/office/drawing/2014/main" id="{52959E58-31C9-4FC2-96CB-C1C8005EF1B8}"/>
              </a:ext>
            </a:extLst>
          </p:cNvPr>
          <p:cNvSpPr/>
          <p:nvPr/>
        </p:nvSpPr>
        <p:spPr>
          <a:xfrm>
            <a:off x="667730" y="5975260"/>
            <a:ext cx="4379805" cy="5868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wned by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Trading Platform</a:t>
            </a:r>
            <a:endParaRPr lang="en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ounded Rectangle 20">
            <a:extLst>
              <a:ext uri="{FF2B5EF4-FFF2-40B4-BE49-F238E27FC236}">
                <a16:creationId xmlns:a16="http://schemas.microsoft.com/office/drawing/2014/main" id="{318271BA-86AE-4758-9BB6-11A784FC3A6F}"/>
              </a:ext>
            </a:extLst>
          </p:cNvPr>
          <p:cNvSpPr/>
          <p:nvPr/>
        </p:nvSpPr>
        <p:spPr>
          <a:xfrm>
            <a:off x="5398416" y="5975260"/>
            <a:ext cx="3511383" cy="5868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to registered users</a:t>
            </a:r>
          </a:p>
        </p:txBody>
      </p:sp>
      <p:sp>
        <p:nvSpPr>
          <p:cNvPr id="84" name="Notched Right Arrow 66">
            <a:extLst>
              <a:ext uri="{FF2B5EF4-FFF2-40B4-BE49-F238E27FC236}">
                <a16:creationId xmlns:a16="http://schemas.microsoft.com/office/drawing/2014/main" id="{6DD88D2B-3320-4AD5-B5B5-27D30D22DB69}"/>
              </a:ext>
            </a:extLst>
          </p:cNvPr>
          <p:cNvSpPr/>
          <p:nvPr/>
        </p:nvSpPr>
        <p:spPr>
          <a:xfrm rot="5400000">
            <a:off x="6890899" y="5498933"/>
            <a:ext cx="456283" cy="352354"/>
          </a:xfrm>
          <a:prstGeom prst="notchedRightArrow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CN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5" name="Rectangle 99">
            <a:extLst>
              <a:ext uri="{FF2B5EF4-FFF2-40B4-BE49-F238E27FC236}">
                <a16:creationId xmlns:a16="http://schemas.microsoft.com/office/drawing/2014/main" id="{56AB32E4-06F2-4D0B-96F4-EEFD3D10FA2E}"/>
              </a:ext>
            </a:extLst>
          </p:cNvPr>
          <p:cNvSpPr/>
          <p:nvPr/>
        </p:nvSpPr>
        <p:spPr>
          <a:xfrm>
            <a:off x="5415613" y="3897762"/>
            <a:ext cx="3384376" cy="1494918"/>
          </a:xfrm>
          <a:prstGeom prst="rect">
            <a:avLst/>
          </a:prstGeom>
          <a:noFill/>
          <a:ln w="190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CN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E315273E-4941-454E-B8F2-1E0AEF83F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7138" y="3968388"/>
            <a:ext cx="1269863" cy="1269863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:a16="http://schemas.microsoft.com/office/drawing/2014/main" id="{35845C30-91FB-4526-8888-C57A1A75767F}"/>
              </a:ext>
            </a:extLst>
          </p:cNvPr>
          <p:cNvSpPr txBox="1"/>
          <p:nvPr/>
        </p:nvSpPr>
        <p:spPr>
          <a:xfrm>
            <a:off x="6476033" y="4217018"/>
            <a:ext cx="2541778" cy="83099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 defTabSz="742859"/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Blockchain</a:t>
            </a:r>
          </a:p>
          <a:p>
            <a:pPr algn="ctr" defTabSz="742859"/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(permissioned)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8" name="图形 87">
            <a:extLst>
              <a:ext uri="{FF2B5EF4-FFF2-40B4-BE49-F238E27FC236}">
                <a16:creationId xmlns:a16="http://schemas.microsoft.com/office/drawing/2014/main" id="{80F69E6B-35F3-4CBF-BAA4-EF4A2AC07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5147" y="4077784"/>
            <a:ext cx="1118225" cy="1118225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123512AE-1C0F-439E-BC50-DB8FCC90F896}"/>
              </a:ext>
            </a:extLst>
          </p:cNvPr>
          <p:cNvSpPr txBox="1"/>
          <p:nvPr/>
        </p:nvSpPr>
        <p:spPr>
          <a:xfrm>
            <a:off x="2227561" y="4382849"/>
            <a:ext cx="2541778" cy="52322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 defTabSz="742859"/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Database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Rectangle 99">
            <a:extLst>
              <a:ext uri="{FF2B5EF4-FFF2-40B4-BE49-F238E27FC236}">
                <a16:creationId xmlns:a16="http://schemas.microsoft.com/office/drawing/2014/main" id="{217A59DF-A0B3-4253-A587-A22301DE0189}"/>
              </a:ext>
            </a:extLst>
          </p:cNvPr>
          <p:cNvSpPr/>
          <p:nvPr/>
        </p:nvSpPr>
        <p:spPr>
          <a:xfrm>
            <a:off x="1165444" y="3855860"/>
            <a:ext cx="3384376" cy="1494918"/>
          </a:xfrm>
          <a:prstGeom prst="rect">
            <a:avLst/>
          </a:prstGeom>
          <a:noFill/>
          <a:ln w="190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CN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37C30E-47F6-4EF2-9C18-C675EE71A26C}"/>
              </a:ext>
            </a:extLst>
          </p:cNvPr>
          <p:cNvSpPr txBox="1"/>
          <p:nvPr/>
        </p:nvSpPr>
        <p:spPr>
          <a:xfrm>
            <a:off x="206612" y="941878"/>
            <a:ext cx="9210090" cy="93974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Product information is frequently updated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 Database (Block Chain: Tamper-resistant)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once completed should not be altered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 Block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50C703-B00D-4620-9044-F2137A7BD6C6}"/>
              </a:ext>
            </a:extLst>
          </p:cNvPr>
          <p:cNvSpPr txBox="1"/>
          <p:nvPr/>
        </p:nvSpPr>
        <p:spPr>
          <a:xfrm>
            <a:off x="1992233" y="2570680"/>
            <a:ext cx="1719622" cy="53553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Information</a:t>
            </a:r>
            <a:endParaRPr lang="zh-CN" altLang="en-US" sz="16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图形 20">
            <a:extLst>
              <a:ext uri="{FF2B5EF4-FFF2-40B4-BE49-F238E27FC236}">
                <a16:creationId xmlns:a16="http://schemas.microsoft.com/office/drawing/2014/main" id="{E5FDD4CE-CA81-42AB-8667-69D72D66AC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99544" y="1942812"/>
            <a:ext cx="1905000" cy="1905000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5C05CBB4-ACE7-435B-8EA4-9A9F64D6AE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7604" y="1982028"/>
            <a:ext cx="1905000" cy="19050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233B5A7D-F6DD-414B-8FE2-DBAB2D0C6714}"/>
              </a:ext>
            </a:extLst>
          </p:cNvPr>
          <p:cNvSpPr txBox="1"/>
          <p:nvPr/>
        </p:nvSpPr>
        <p:spPr>
          <a:xfrm>
            <a:off x="6294296" y="2582173"/>
            <a:ext cx="1719622" cy="58477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endParaRPr lang="zh-CN" altLang="en-US" sz="16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96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箭头: 左弧形 16">
            <a:extLst>
              <a:ext uri="{FF2B5EF4-FFF2-40B4-BE49-F238E27FC236}">
                <a16:creationId xmlns:a16="http://schemas.microsoft.com/office/drawing/2014/main" id="{5532EB74-F486-4F38-A6D0-C67AB4149840}"/>
              </a:ext>
            </a:extLst>
          </p:cNvPr>
          <p:cNvSpPr/>
          <p:nvPr/>
        </p:nvSpPr>
        <p:spPr>
          <a:xfrm rot="9937149">
            <a:off x="2419437" y="2970315"/>
            <a:ext cx="815070" cy="2002593"/>
          </a:xfrm>
          <a:prstGeom prst="curvedRightArrow">
            <a:avLst>
              <a:gd name="adj1" fmla="val 25000"/>
              <a:gd name="adj2" fmla="val 50000"/>
              <a:gd name="adj3" fmla="val 19411"/>
            </a:avLst>
          </a:prstGeom>
          <a:solidFill>
            <a:schemeClr val="accent5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02" y="369454"/>
            <a:ext cx="7236804" cy="54006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Incomplete Asymmetric-Key Cryptography</a:t>
            </a: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30C6EA5D-D0A5-44DE-850A-134FB8DB2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2926" y="4296570"/>
            <a:ext cx="870688" cy="870688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2A2CEBA4-ACF2-4012-93CB-4A70596AA2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7314" y="4290459"/>
            <a:ext cx="870688" cy="870688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1F1855AC-87EC-4FC5-9ABC-0155E33CE3B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02026" y="5497578"/>
            <a:ext cx="789997" cy="789997"/>
          </a:xfrm>
          <a:prstGeom prst="rect">
            <a:avLst/>
          </a:prstGeom>
        </p:spPr>
      </p:pic>
      <p:sp>
        <p:nvSpPr>
          <p:cNvPr id="24" name="箭头: 左弧形 23">
            <a:extLst>
              <a:ext uri="{FF2B5EF4-FFF2-40B4-BE49-F238E27FC236}">
                <a16:creationId xmlns:a16="http://schemas.microsoft.com/office/drawing/2014/main" id="{1B105FDF-C036-49B5-A9D4-AB5875B1E133}"/>
              </a:ext>
            </a:extLst>
          </p:cNvPr>
          <p:cNvSpPr/>
          <p:nvPr/>
        </p:nvSpPr>
        <p:spPr>
          <a:xfrm rot="16200000" flipH="1">
            <a:off x="5058207" y="1736265"/>
            <a:ext cx="664334" cy="4268080"/>
          </a:xfrm>
          <a:prstGeom prst="curvedRightArrow">
            <a:avLst/>
          </a:prstGeom>
          <a:solidFill>
            <a:schemeClr val="tx1">
              <a:lumMod val="50000"/>
              <a:lumOff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箭头: 左弧形 24">
            <a:extLst>
              <a:ext uri="{FF2B5EF4-FFF2-40B4-BE49-F238E27FC236}">
                <a16:creationId xmlns:a16="http://schemas.microsoft.com/office/drawing/2014/main" id="{1DA78D2D-A99C-41B2-954F-9F28B6DACC03}"/>
              </a:ext>
            </a:extLst>
          </p:cNvPr>
          <p:cNvSpPr/>
          <p:nvPr/>
        </p:nvSpPr>
        <p:spPr>
          <a:xfrm rot="5400000" flipH="1">
            <a:off x="5034775" y="3803976"/>
            <a:ext cx="690762" cy="4161068"/>
          </a:xfrm>
          <a:prstGeom prst="curvedRightArrow">
            <a:avLst/>
          </a:prstGeom>
          <a:solidFill>
            <a:schemeClr val="tx1">
              <a:lumMod val="50000"/>
              <a:lumOff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AF997E18-3CC1-4814-A374-5FDE523D76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04548" y="3298995"/>
            <a:ext cx="771649" cy="771649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A05602C4-6372-4A4A-9C83-09770D6B342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33766" y="5627134"/>
            <a:ext cx="779662" cy="779662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D3E7C441-FAB9-4DE2-909B-59D5368892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64811" y="4771735"/>
            <a:ext cx="1067915" cy="1067915"/>
          </a:xfrm>
          <a:prstGeom prst="rect">
            <a:avLst/>
          </a:prstGeom>
        </p:spPr>
      </p:pic>
      <p:sp>
        <p:nvSpPr>
          <p:cNvPr id="16" name="箭头: 燕尾形 15">
            <a:extLst>
              <a:ext uri="{FF2B5EF4-FFF2-40B4-BE49-F238E27FC236}">
                <a16:creationId xmlns:a16="http://schemas.microsoft.com/office/drawing/2014/main" id="{5D8D7F32-3653-4F8E-BBF0-F7B7CDAD4A83}"/>
              </a:ext>
            </a:extLst>
          </p:cNvPr>
          <p:cNvSpPr/>
          <p:nvPr/>
        </p:nvSpPr>
        <p:spPr>
          <a:xfrm rot="8485781">
            <a:off x="2598339" y="5532212"/>
            <a:ext cx="698971" cy="584420"/>
          </a:xfrm>
          <a:prstGeom prst="notchedRightArrow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箭头: 燕尾形 32">
            <a:extLst>
              <a:ext uri="{FF2B5EF4-FFF2-40B4-BE49-F238E27FC236}">
                <a16:creationId xmlns:a16="http://schemas.microsoft.com/office/drawing/2014/main" id="{A4AC70DD-2995-46B4-ACA9-22D36CE2F874}"/>
              </a:ext>
            </a:extLst>
          </p:cNvPr>
          <p:cNvSpPr/>
          <p:nvPr/>
        </p:nvSpPr>
        <p:spPr>
          <a:xfrm rot="2165954">
            <a:off x="7769829" y="4686920"/>
            <a:ext cx="689328" cy="576358"/>
          </a:xfrm>
          <a:prstGeom prst="notchedRightArrow">
            <a:avLst/>
          </a:prstGeom>
          <a:solidFill>
            <a:schemeClr val="tx1">
              <a:lumMod val="75000"/>
              <a:lumOff val="2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9859D9C1-2A22-4947-BF6E-36D1B229E3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36016" y="4230847"/>
            <a:ext cx="1027929" cy="1027929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4F803E79-615B-485D-BF84-A8832FC5C26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01303" y="2889734"/>
            <a:ext cx="891185" cy="89118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A282E1C-C997-4C42-99B9-7F954E71B0AC}"/>
              </a:ext>
            </a:extLst>
          </p:cNvPr>
          <p:cNvSpPr txBox="1"/>
          <p:nvPr/>
        </p:nvSpPr>
        <p:spPr>
          <a:xfrm>
            <a:off x="3154768" y="5250413"/>
            <a:ext cx="735779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A10F024-9BEE-4F2D-8C35-BDDEA11AF48E}"/>
              </a:ext>
            </a:extLst>
          </p:cNvPr>
          <p:cNvSpPr txBox="1"/>
          <p:nvPr/>
        </p:nvSpPr>
        <p:spPr>
          <a:xfrm>
            <a:off x="6559517" y="5250413"/>
            <a:ext cx="1657505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Government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CDAE35B-C173-4EB2-A064-8CC40732E23B}"/>
              </a:ext>
            </a:extLst>
          </p:cNvPr>
          <p:cNvSpPr txBox="1"/>
          <p:nvPr/>
        </p:nvSpPr>
        <p:spPr>
          <a:xfrm>
            <a:off x="1958890" y="6405329"/>
            <a:ext cx="572144" cy="2215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Wallet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5935CA-46D4-4B09-81F5-E8919277E250}"/>
              </a:ext>
            </a:extLst>
          </p:cNvPr>
          <p:cNvSpPr txBox="1"/>
          <p:nvPr/>
        </p:nvSpPr>
        <p:spPr>
          <a:xfrm>
            <a:off x="8694009" y="5898789"/>
            <a:ext cx="809517" cy="2215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Database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7250DB-08F8-435A-8F62-E9EBFA6DF2C8}"/>
              </a:ext>
            </a:extLst>
          </p:cNvPr>
          <p:cNvSpPr txBox="1"/>
          <p:nvPr/>
        </p:nvSpPr>
        <p:spPr>
          <a:xfrm>
            <a:off x="4478726" y="3100823"/>
            <a:ext cx="1954061" cy="2215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Application materials 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391A98-4FF4-4EA1-98AA-303EC3CA3803}"/>
              </a:ext>
            </a:extLst>
          </p:cNvPr>
          <p:cNvSpPr txBox="1"/>
          <p:nvPr/>
        </p:nvSpPr>
        <p:spPr>
          <a:xfrm>
            <a:off x="4239879" y="6369325"/>
            <a:ext cx="2431756" cy="2215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Asymmetric encryption key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78E3C7-D643-4824-BD15-6D24A47FE1A7}"/>
              </a:ext>
            </a:extLst>
          </p:cNvPr>
          <p:cNvSpPr txBox="1"/>
          <p:nvPr/>
        </p:nvSpPr>
        <p:spPr>
          <a:xfrm>
            <a:off x="1113686" y="3810253"/>
            <a:ext cx="1178208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Platform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形 25">
            <a:extLst>
              <a:ext uri="{FF2B5EF4-FFF2-40B4-BE49-F238E27FC236}">
                <a16:creationId xmlns:a16="http://schemas.microsoft.com/office/drawing/2014/main" id="{25F8E1F3-5037-424A-B1FB-A19D10FE43B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92316" y="5539130"/>
            <a:ext cx="853438" cy="789997"/>
          </a:xfrm>
          <a:prstGeom prst="rect">
            <a:avLst/>
          </a:prstGeom>
        </p:spPr>
      </p:pic>
      <p:sp>
        <p:nvSpPr>
          <p:cNvPr id="30" name="箭头: 左弧形 29">
            <a:extLst>
              <a:ext uri="{FF2B5EF4-FFF2-40B4-BE49-F238E27FC236}">
                <a16:creationId xmlns:a16="http://schemas.microsoft.com/office/drawing/2014/main" id="{077AF932-3022-461E-BE3E-757D21D30DEF}"/>
              </a:ext>
            </a:extLst>
          </p:cNvPr>
          <p:cNvSpPr/>
          <p:nvPr/>
        </p:nvSpPr>
        <p:spPr>
          <a:xfrm rot="19816257">
            <a:off x="687499" y="3384866"/>
            <a:ext cx="815070" cy="2002593"/>
          </a:xfrm>
          <a:prstGeom prst="curvedRightArrow">
            <a:avLst>
              <a:gd name="adj1" fmla="val 25000"/>
              <a:gd name="adj2" fmla="val 50000"/>
              <a:gd name="adj3" fmla="val 19411"/>
            </a:avLst>
          </a:prstGeom>
          <a:solidFill>
            <a:schemeClr val="accent5">
              <a:lumMod val="20000"/>
              <a:lumOff val="8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195D064-914F-4BDC-BAE0-299864BF1438}"/>
              </a:ext>
            </a:extLst>
          </p:cNvPr>
          <p:cNvSpPr txBox="1"/>
          <p:nvPr/>
        </p:nvSpPr>
        <p:spPr>
          <a:xfrm>
            <a:off x="1592848" y="5229996"/>
            <a:ext cx="1326325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VIP Users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65B7DAB7-4F2C-4488-B640-C993D589C0E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7498" y="4016139"/>
            <a:ext cx="853438" cy="789997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82FF1D51-4D14-4001-BD7A-A8B17EF24B79}"/>
              </a:ext>
            </a:extLst>
          </p:cNvPr>
          <p:cNvSpPr txBox="1"/>
          <p:nvPr/>
        </p:nvSpPr>
        <p:spPr>
          <a:xfrm>
            <a:off x="127670" y="945518"/>
            <a:ext cx="9740739" cy="181722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indent="-1800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Private key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is provided by </a:t>
            </a:r>
            <a:r>
              <a: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government department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to hold the user </a:t>
            </a:r>
            <a:r>
              <a:rPr lang="en-US" altLang="zh-CN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legally accountable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indent="-180000">
              <a:lnSpc>
                <a:spcPct val="150000"/>
              </a:lnSpc>
              <a:buFontTx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with 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membership levels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receive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symmetric encryption keys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platform.</a:t>
            </a:r>
          </a:p>
          <a:p>
            <a:pPr marL="821863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 will be shared with the sellers they wish to trade with by the platform.</a:t>
            </a:r>
          </a:p>
          <a:p>
            <a:pPr marL="821863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transaction information if they want.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BED4F9C-AF0F-41C0-A87E-962E562E24EF}"/>
              </a:ext>
            </a:extLst>
          </p:cNvPr>
          <p:cNvSpPr txBox="1"/>
          <p:nvPr/>
        </p:nvSpPr>
        <p:spPr>
          <a:xfrm>
            <a:off x="-487136" y="4564044"/>
            <a:ext cx="2466794" cy="58477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symmetric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encryption key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89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>
            <a:extLst>
              <a:ext uri="{FF2B5EF4-FFF2-40B4-BE49-F238E27FC236}">
                <a16:creationId xmlns:a16="http://schemas.microsoft.com/office/drawing/2014/main" id="{C7DCEEDA-B559-4E63-B375-0C383C5D33B1}"/>
              </a:ext>
            </a:extLst>
          </p:cNvPr>
          <p:cNvSpPr/>
          <p:nvPr/>
        </p:nvSpPr>
        <p:spPr>
          <a:xfrm rot="16200000">
            <a:off x="-275514" y="3448937"/>
            <a:ext cx="5578341" cy="792088"/>
          </a:xfrm>
          <a:prstGeom prst="triangle">
            <a:avLst>
              <a:gd name="adj" fmla="val 74683"/>
            </a:avLst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02" y="369454"/>
            <a:ext cx="7236804" cy="54006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Blocks and Blockchain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9EC979FD-A19F-48D6-BD01-9582124A5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758" y="2303947"/>
            <a:ext cx="1269863" cy="1269863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312E9B9-B6E0-4EE7-922E-AAACCF8CC452}"/>
              </a:ext>
            </a:extLst>
          </p:cNvPr>
          <p:cNvSpPr/>
          <p:nvPr/>
        </p:nvSpPr>
        <p:spPr>
          <a:xfrm>
            <a:off x="2909701" y="1075245"/>
            <a:ext cx="5462885" cy="1454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360000">
              <a:spcAft>
                <a:spcPts val="1000"/>
              </a:spcAft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Header: 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Block Hash:00000000603c5a9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Timestamp: 2024-11-02 12:00:00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Nonce: 2401212398</a:t>
            </a:r>
            <a:endParaRPr lang="en-CN" sz="18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A7002D3F-C395-4B80-825D-1EAEB811844F}"/>
              </a:ext>
            </a:extLst>
          </p:cNvPr>
          <p:cNvSpPr/>
          <p:nvPr/>
        </p:nvSpPr>
        <p:spPr>
          <a:xfrm>
            <a:off x="2909701" y="2549129"/>
            <a:ext cx="5462885" cy="40850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360000">
              <a:spcAft>
                <a:spcPts val="1000"/>
              </a:spcAft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Body: 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Number: 0001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  <a:p>
            <a:pPr lvl="2" defTabSz="360000">
              <a:spcAft>
                <a:spcPts val="3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Address,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Amount, Digital Signature…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</a:p>
          <a:p>
            <a:pPr lvl="2" defTabSz="360000">
              <a:spcAft>
                <a:spcPts val="3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A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ddress,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Amount…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Information: Books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price: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¥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Amount: 5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of Transaction: 2024-11-02 11:59:30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waiting time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2024-11-10 23:59:59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channel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Platform involved</a:t>
            </a:r>
          </a:p>
          <a:p>
            <a:pPr marL="764713" lvl="1" indent="-285750" defTabSz="360000">
              <a:spcAft>
                <a:spcPts val="300"/>
              </a:spcAft>
              <a:buFont typeface="Wingdings" panose="05000000000000000000" pitchFamily="2" charset="2"/>
              <a:buChar char="p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 number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MES#12345</a:t>
            </a:r>
          </a:p>
        </p:txBody>
      </p:sp>
    </p:spTree>
    <p:extLst>
      <p:ext uri="{BB962C8B-B14F-4D97-AF65-F5344CB8AC3E}">
        <p14:creationId xmlns:p14="http://schemas.microsoft.com/office/powerpoint/2010/main" val="131111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02" y="369454"/>
            <a:ext cx="7236804" cy="54006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400" dirty="0"/>
              <a:t>Modified Consensus Model</a:t>
            </a:r>
          </a:p>
        </p:txBody>
      </p:sp>
      <p:sp>
        <p:nvSpPr>
          <p:cNvPr id="7" name="Rounded Rectangle 20">
            <a:extLst>
              <a:ext uri="{FF2B5EF4-FFF2-40B4-BE49-F238E27FC236}">
                <a16:creationId xmlns:a16="http://schemas.microsoft.com/office/drawing/2014/main" id="{B8AF678D-0ACE-4158-838E-9641E42AD139}"/>
              </a:ext>
            </a:extLst>
          </p:cNvPr>
          <p:cNvSpPr/>
          <p:nvPr/>
        </p:nvSpPr>
        <p:spPr>
          <a:xfrm>
            <a:off x="642075" y="5986077"/>
            <a:ext cx="1728192" cy="3337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redit</a:t>
            </a:r>
            <a:endParaRPr lang="en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20">
            <a:extLst>
              <a:ext uri="{FF2B5EF4-FFF2-40B4-BE49-F238E27FC236}">
                <a16:creationId xmlns:a16="http://schemas.microsoft.com/office/drawing/2014/main" id="{7A5C38E2-8C04-432E-BDF1-7C22CD7466B1}"/>
              </a:ext>
            </a:extLst>
          </p:cNvPr>
          <p:cNvSpPr/>
          <p:nvPr/>
        </p:nvSpPr>
        <p:spPr>
          <a:xfrm>
            <a:off x="2443102" y="5986077"/>
            <a:ext cx="1728192" cy="3337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</a:t>
            </a:r>
            <a:endParaRPr lang="en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20">
            <a:extLst>
              <a:ext uri="{FF2B5EF4-FFF2-40B4-BE49-F238E27FC236}">
                <a16:creationId xmlns:a16="http://schemas.microsoft.com/office/drawing/2014/main" id="{F5D9F157-7490-4669-8452-0D29B8B6DE82}"/>
              </a:ext>
            </a:extLst>
          </p:cNvPr>
          <p:cNvSpPr/>
          <p:nvPr/>
        </p:nvSpPr>
        <p:spPr>
          <a:xfrm>
            <a:off x="642075" y="5482022"/>
            <a:ext cx="3529219" cy="39604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 of being selected</a:t>
            </a: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CADF47D2-B945-461D-B34E-1520001FE3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9984" y="4683011"/>
            <a:ext cx="763007" cy="763007"/>
          </a:xfrm>
          <a:prstGeom prst="rect">
            <a:avLst/>
          </a:prstGeom>
        </p:spPr>
      </p:pic>
      <p:sp>
        <p:nvSpPr>
          <p:cNvPr id="13" name="Rectangle 99">
            <a:extLst>
              <a:ext uri="{FF2B5EF4-FFF2-40B4-BE49-F238E27FC236}">
                <a16:creationId xmlns:a16="http://schemas.microsoft.com/office/drawing/2014/main" id="{0A1B47E3-F6CA-4E00-9721-75D4088B1C93}"/>
              </a:ext>
            </a:extLst>
          </p:cNvPr>
          <p:cNvSpPr/>
          <p:nvPr/>
        </p:nvSpPr>
        <p:spPr>
          <a:xfrm>
            <a:off x="480883" y="4683010"/>
            <a:ext cx="3823251" cy="1771120"/>
          </a:xfrm>
          <a:prstGeom prst="rect">
            <a:avLst/>
          </a:prstGeom>
          <a:noFill/>
          <a:ln w="190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CN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ounded Rectangle 20">
            <a:extLst>
              <a:ext uri="{FF2B5EF4-FFF2-40B4-BE49-F238E27FC236}">
                <a16:creationId xmlns:a16="http://schemas.microsoft.com/office/drawing/2014/main" id="{A60D18FD-2F3E-489B-BF5A-D577677E50E2}"/>
              </a:ext>
            </a:extLst>
          </p:cNvPr>
          <p:cNvSpPr/>
          <p:nvPr/>
        </p:nvSpPr>
        <p:spPr>
          <a:xfrm>
            <a:off x="5797474" y="5986077"/>
            <a:ext cx="1728192" cy="3337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redit</a:t>
            </a:r>
            <a:endParaRPr lang="en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42D0ECAF-7213-4420-B9B1-359347CA0E79}"/>
              </a:ext>
            </a:extLst>
          </p:cNvPr>
          <p:cNvSpPr/>
          <p:nvPr/>
        </p:nvSpPr>
        <p:spPr>
          <a:xfrm>
            <a:off x="7642259" y="5986077"/>
            <a:ext cx="1728192" cy="3337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</a:t>
            </a:r>
            <a:endParaRPr lang="en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0">
            <a:extLst>
              <a:ext uri="{FF2B5EF4-FFF2-40B4-BE49-F238E27FC236}">
                <a16:creationId xmlns:a16="http://schemas.microsoft.com/office/drawing/2014/main" id="{AEE13C64-722C-463A-A6D7-D3CBC0E37AF1}"/>
              </a:ext>
            </a:extLst>
          </p:cNvPr>
          <p:cNvSpPr/>
          <p:nvPr/>
        </p:nvSpPr>
        <p:spPr>
          <a:xfrm>
            <a:off x="5797474" y="5482022"/>
            <a:ext cx="3529219" cy="39604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 of being selected</a:t>
            </a:r>
          </a:p>
        </p:txBody>
      </p:sp>
      <p:sp>
        <p:nvSpPr>
          <p:cNvPr id="26" name="Rectangle 99">
            <a:extLst>
              <a:ext uri="{FF2B5EF4-FFF2-40B4-BE49-F238E27FC236}">
                <a16:creationId xmlns:a16="http://schemas.microsoft.com/office/drawing/2014/main" id="{148F3163-E33C-4264-AFA1-FA4FB9ED3B29}"/>
              </a:ext>
            </a:extLst>
          </p:cNvPr>
          <p:cNvSpPr/>
          <p:nvPr/>
        </p:nvSpPr>
        <p:spPr>
          <a:xfrm>
            <a:off x="5636282" y="4683010"/>
            <a:ext cx="3823251" cy="1771120"/>
          </a:xfrm>
          <a:prstGeom prst="rect">
            <a:avLst/>
          </a:prstGeom>
          <a:noFill/>
          <a:ln w="190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CN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D6C57AF3-537B-49CA-86F8-CD320079A7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2386" y="5023857"/>
            <a:ext cx="952331" cy="952331"/>
          </a:xfrm>
          <a:prstGeom prst="rect">
            <a:avLst/>
          </a:prstGeom>
        </p:spPr>
      </p:pic>
      <p:pic>
        <p:nvPicPr>
          <p:cNvPr id="32" name="图形 31">
            <a:extLst>
              <a:ext uri="{FF2B5EF4-FFF2-40B4-BE49-F238E27FC236}">
                <a16:creationId xmlns:a16="http://schemas.microsoft.com/office/drawing/2014/main" id="{FFFD48C3-8AEF-4EB9-9FBE-F49BE61D74F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94139" y="3823482"/>
            <a:ext cx="759778" cy="759778"/>
          </a:xfrm>
          <a:prstGeom prst="rect">
            <a:avLst/>
          </a:prstGeom>
        </p:spPr>
      </p:pic>
      <p:pic>
        <p:nvPicPr>
          <p:cNvPr id="35" name="图形 34">
            <a:extLst>
              <a:ext uri="{FF2B5EF4-FFF2-40B4-BE49-F238E27FC236}">
                <a16:creationId xmlns:a16="http://schemas.microsoft.com/office/drawing/2014/main" id="{00E9E0FF-BBFA-4CEE-9222-7DF0278F4C7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7729" y="3285778"/>
            <a:ext cx="759778" cy="708957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4330F45-EF43-4AC1-8033-E316912AF146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4941491" y="3994735"/>
            <a:ext cx="16127" cy="911223"/>
          </a:xfrm>
          <a:prstGeom prst="straightConnector1">
            <a:avLst/>
          </a:prstGeom>
          <a:ln w="28575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BE6EE60-E2E3-403C-94B5-174B6B27BB52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2443102" y="3994735"/>
            <a:ext cx="2514516" cy="677207"/>
          </a:xfrm>
          <a:prstGeom prst="straightConnector1">
            <a:avLst/>
          </a:prstGeom>
          <a:ln w="28575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FDE7707-326E-40B2-85E5-38E88C9950CF}"/>
              </a:ext>
            </a:extLst>
          </p:cNvPr>
          <p:cNvCxnSpPr>
            <a:cxnSpLocks/>
            <a:endCxn id="35" idx="2"/>
          </p:cNvCxnSpPr>
          <p:nvPr/>
        </p:nvCxnSpPr>
        <p:spPr>
          <a:xfrm flipH="1" flipV="1">
            <a:off x="4957618" y="3994735"/>
            <a:ext cx="2640883" cy="680382"/>
          </a:xfrm>
          <a:prstGeom prst="straightConnector1">
            <a:avLst/>
          </a:prstGeom>
          <a:ln w="28575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形 51">
            <a:extLst>
              <a:ext uri="{FF2B5EF4-FFF2-40B4-BE49-F238E27FC236}">
                <a16:creationId xmlns:a16="http://schemas.microsoft.com/office/drawing/2014/main" id="{E55A58D1-6A1F-4DA9-89D5-BCA4DC409E3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7729" y="3974886"/>
            <a:ext cx="759778" cy="759778"/>
          </a:xfrm>
          <a:prstGeom prst="rect">
            <a:avLst/>
          </a:prstGeom>
        </p:spPr>
      </p:pic>
      <p:pic>
        <p:nvPicPr>
          <p:cNvPr id="53" name="图形 52">
            <a:extLst>
              <a:ext uri="{FF2B5EF4-FFF2-40B4-BE49-F238E27FC236}">
                <a16:creationId xmlns:a16="http://schemas.microsoft.com/office/drawing/2014/main" id="{75A00B06-D7FF-4CF3-A646-85A5488BBB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49650" y="3820307"/>
            <a:ext cx="759778" cy="759778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05FF3E93-728A-4F73-9C25-3D7D469116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5677" y="4683010"/>
            <a:ext cx="763007" cy="763007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4CBF44E4-3FA4-44EF-84B8-DF5C8352C5C1}"/>
              </a:ext>
            </a:extLst>
          </p:cNvPr>
          <p:cNvSpPr txBox="1"/>
          <p:nvPr/>
        </p:nvSpPr>
        <p:spPr>
          <a:xfrm>
            <a:off x="231815" y="945518"/>
            <a:ext cx="9094877" cy="22327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Government-Supervising Proof of Credit-Membership Consensus Model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are calculated through a weighted combination of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 level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chosen to create blocks, and will be decided through 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Coupons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discounts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process under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</a:t>
            </a:r>
            <a:r>
              <a:rPr lang="en-US" altLang="zh-C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any action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illegal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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Invalid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62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02" y="369454"/>
            <a:ext cx="7236804" cy="54006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Physical Transactions and Returns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8F54C01A-3491-49B5-95B9-E803095622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834" y="1525835"/>
            <a:ext cx="819586" cy="819586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0522C20C-7107-4D99-A838-E56BCF23FB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51674" y="1485578"/>
            <a:ext cx="900100" cy="900100"/>
          </a:xfrm>
          <a:prstGeom prst="rect">
            <a:avLst/>
          </a:prstGeom>
        </p:spPr>
      </p:pic>
      <p:sp>
        <p:nvSpPr>
          <p:cNvPr id="8" name="箭头: 左弧形 7">
            <a:extLst>
              <a:ext uri="{FF2B5EF4-FFF2-40B4-BE49-F238E27FC236}">
                <a16:creationId xmlns:a16="http://schemas.microsoft.com/office/drawing/2014/main" id="{5F8496A2-761C-4036-8E45-07AF75D7BEDE}"/>
              </a:ext>
            </a:extLst>
          </p:cNvPr>
          <p:cNvSpPr/>
          <p:nvPr/>
        </p:nvSpPr>
        <p:spPr>
          <a:xfrm rot="16200000" flipH="1">
            <a:off x="4443767" y="-1154476"/>
            <a:ext cx="683067" cy="5796645"/>
          </a:xfrm>
          <a:prstGeom prst="curvedRightArrow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5" name="图形 14">
            <a:extLst>
              <a:ext uri="{FF2B5EF4-FFF2-40B4-BE49-F238E27FC236}">
                <a16:creationId xmlns:a16="http://schemas.microsoft.com/office/drawing/2014/main" id="{77675AD0-1531-4FC0-BE6C-6DA304EF84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834" y="4337735"/>
            <a:ext cx="819586" cy="819586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E0060F07-F191-45E5-94D3-E0AA3F3308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27238" y="4189466"/>
            <a:ext cx="1116124" cy="1116124"/>
          </a:xfrm>
          <a:prstGeom prst="rect">
            <a:avLst/>
          </a:prstGeom>
        </p:spPr>
      </p:pic>
      <p:pic>
        <p:nvPicPr>
          <p:cNvPr id="27" name="图形 26">
            <a:extLst>
              <a:ext uri="{FF2B5EF4-FFF2-40B4-BE49-F238E27FC236}">
                <a16:creationId xmlns:a16="http://schemas.microsoft.com/office/drawing/2014/main" id="{0EB68BA3-4F68-444E-AC53-B4B45C72A17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09803" y="4293890"/>
            <a:ext cx="819586" cy="819586"/>
          </a:xfrm>
          <a:prstGeom prst="rect">
            <a:avLst/>
          </a:prstGeom>
        </p:spPr>
      </p:pic>
      <p:sp>
        <p:nvSpPr>
          <p:cNvPr id="28" name="箭头: 左弧形 27">
            <a:extLst>
              <a:ext uri="{FF2B5EF4-FFF2-40B4-BE49-F238E27FC236}">
                <a16:creationId xmlns:a16="http://schemas.microsoft.com/office/drawing/2014/main" id="{8099878D-7209-4B5D-A9FA-56FF824D76DB}"/>
              </a:ext>
            </a:extLst>
          </p:cNvPr>
          <p:cNvSpPr/>
          <p:nvPr/>
        </p:nvSpPr>
        <p:spPr>
          <a:xfrm rot="5400000" flipH="1">
            <a:off x="4404271" y="-351131"/>
            <a:ext cx="683067" cy="5796645"/>
          </a:xfrm>
          <a:prstGeom prst="curvedRightArrow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箭头: 左弧形 28">
            <a:extLst>
              <a:ext uri="{FF2B5EF4-FFF2-40B4-BE49-F238E27FC236}">
                <a16:creationId xmlns:a16="http://schemas.microsoft.com/office/drawing/2014/main" id="{3A51B4D0-536B-47F1-800D-CECA4B489CAC}"/>
              </a:ext>
            </a:extLst>
          </p:cNvPr>
          <p:cNvSpPr/>
          <p:nvPr/>
        </p:nvSpPr>
        <p:spPr>
          <a:xfrm rot="16200000" flipH="1">
            <a:off x="2463548" y="2890238"/>
            <a:ext cx="683067" cy="2700300"/>
          </a:xfrm>
          <a:prstGeom prst="curvedRightArrow">
            <a:avLst/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箭头: 左弧形 29">
            <a:extLst>
              <a:ext uri="{FF2B5EF4-FFF2-40B4-BE49-F238E27FC236}">
                <a16:creationId xmlns:a16="http://schemas.microsoft.com/office/drawing/2014/main" id="{E4EDBBA7-BB19-4840-96EA-5773227B3E48}"/>
              </a:ext>
            </a:extLst>
          </p:cNvPr>
          <p:cNvSpPr/>
          <p:nvPr/>
        </p:nvSpPr>
        <p:spPr>
          <a:xfrm rot="5400000" flipH="1">
            <a:off x="2423642" y="3937245"/>
            <a:ext cx="683067" cy="2620493"/>
          </a:xfrm>
          <a:prstGeom prst="curvedRightArrow">
            <a:avLst/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箭头: 左弧形 30">
            <a:extLst>
              <a:ext uri="{FF2B5EF4-FFF2-40B4-BE49-F238E27FC236}">
                <a16:creationId xmlns:a16="http://schemas.microsoft.com/office/drawing/2014/main" id="{236B4A9C-6C39-424D-ACD0-733072F54D5D}"/>
              </a:ext>
            </a:extLst>
          </p:cNvPr>
          <p:cNvSpPr/>
          <p:nvPr/>
        </p:nvSpPr>
        <p:spPr>
          <a:xfrm rot="16200000" flipH="1">
            <a:off x="6389053" y="2890238"/>
            <a:ext cx="683067" cy="2700300"/>
          </a:xfrm>
          <a:prstGeom prst="curvedRightArrow">
            <a:avLst/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3" name="图形 32">
            <a:extLst>
              <a:ext uri="{FF2B5EF4-FFF2-40B4-BE49-F238E27FC236}">
                <a16:creationId xmlns:a16="http://schemas.microsoft.com/office/drawing/2014/main" id="{0F53B5CE-3D6B-47B7-8B68-0E46BFC250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51674" y="4297395"/>
            <a:ext cx="900100" cy="9001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A7B4DD99-68E6-4AB2-8FEE-16B328308150}"/>
              </a:ext>
            </a:extLst>
          </p:cNvPr>
          <p:cNvSpPr txBox="1"/>
          <p:nvPr/>
        </p:nvSpPr>
        <p:spPr>
          <a:xfrm>
            <a:off x="4117110" y="5316164"/>
            <a:ext cx="1346522" cy="581698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Platform</a:t>
            </a:r>
          </a:p>
          <a:p>
            <a:pPr algn="ctr">
              <a:lnSpc>
                <a:spcPct val="90000"/>
              </a:lnSpc>
              <a:buClr>
                <a:schemeClr val="bg2"/>
              </a:buClr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(</a:t>
            </a:r>
            <a:r>
              <a:rPr lang="en-US" altLang="zh-CN" sz="1800" i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intermediary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1F5CD05-2D81-4E95-8125-CD897773B0DB}"/>
              </a:ext>
            </a:extLst>
          </p:cNvPr>
          <p:cNvSpPr txBox="1"/>
          <p:nvPr/>
        </p:nvSpPr>
        <p:spPr>
          <a:xfrm>
            <a:off x="8226621" y="5305590"/>
            <a:ext cx="750205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Seller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765DDC1-12D1-458E-A22F-253FF02D0D33}"/>
              </a:ext>
            </a:extLst>
          </p:cNvPr>
          <p:cNvSpPr txBox="1"/>
          <p:nvPr/>
        </p:nvSpPr>
        <p:spPr>
          <a:xfrm>
            <a:off x="599074" y="5325411"/>
            <a:ext cx="803105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Buyer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67A2A6F-0D79-4BE4-BF51-F97123E99722}"/>
              </a:ext>
            </a:extLst>
          </p:cNvPr>
          <p:cNvSpPr txBox="1"/>
          <p:nvPr/>
        </p:nvSpPr>
        <p:spPr>
          <a:xfrm>
            <a:off x="607315" y="2382281"/>
            <a:ext cx="803105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Buyer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48828E4-2CF1-4CA4-B378-BDCA9DFBC230}"/>
              </a:ext>
            </a:extLst>
          </p:cNvPr>
          <p:cNvSpPr txBox="1"/>
          <p:nvPr/>
        </p:nvSpPr>
        <p:spPr>
          <a:xfrm>
            <a:off x="8226621" y="2385678"/>
            <a:ext cx="750205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Seller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图形 39">
            <a:extLst>
              <a:ext uri="{FF2B5EF4-FFF2-40B4-BE49-F238E27FC236}">
                <a16:creationId xmlns:a16="http://schemas.microsoft.com/office/drawing/2014/main" id="{6E0DAF39-60AD-4422-962C-A095C06847A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79819" y="4410408"/>
            <a:ext cx="819586" cy="819586"/>
          </a:xfrm>
          <a:prstGeom prst="rect">
            <a:avLst/>
          </a:prstGeom>
        </p:spPr>
      </p:pic>
      <p:pic>
        <p:nvPicPr>
          <p:cNvPr id="41" name="图形 40">
            <a:extLst>
              <a:ext uri="{FF2B5EF4-FFF2-40B4-BE49-F238E27FC236}">
                <a16:creationId xmlns:a16="http://schemas.microsoft.com/office/drawing/2014/main" id="{59C3B12A-2B51-4FB7-980E-19D8E78BBF7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2562" y="1854124"/>
            <a:ext cx="819586" cy="819586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32D83B75-614C-4144-8D01-E93D24D3699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21681" y="1081582"/>
            <a:ext cx="648245" cy="648245"/>
          </a:xfrm>
          <a:prstGeom prst="rect">
            <a:avLst/>
          </a:prstGeom>
        </p:spPr>
      </p:pic>
      <p:pic>
        <p:nvPicPr>
          <p:cNvPr id="43" name="图形 42">
            <a:extLst>
              <a:ext uri="{FF2B5EF4-FFF2-40B4-BE49-F238E27FC236}">
                <a16:creationId xmlns:a16="http://schemas.microsoft.com/office/drawing/2014/main" id="{F4370C5B-7F16-4E32-8AD6-F781272D4B4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84024" y="2624121"/>
            <a:ext cx="523558" cy="523558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95713B3A-999B-4843-840A-A9DC593E81F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41053" y="3573637"/>
            <a:ext cx="648245" cy="648245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D48C1C19-3DB6-46FF-AC6D-1A733EB835B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06463" y="3537633"/>
            <a:ext cx="648245" cy="648245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81342D59-8799-4AB8-9D40-21058520532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23520" y="6130094"/>
            <a:ext cx="523558" cy="523558"/>
          </a:xfrm>
          <a:prstGeom prst="rect">
            <a:avLst/>
          </a:prstGeom>
        </p:spPr>
      </p:pic>
      <p:sp>
        <p:nvSpPr>
          <p:cNvPr id="49" name="箭头: 左弧形 48">
            <a:extLst>
              <a:ext uri="{FF2B5EF4-FFF2-40B4-BE49-F238E27FC236}">
                <a16:creationId xmlns:a16="http://schemas.microsoft.com/office/drawing/2014/main" id="{30963004-FD55-4AF0-A6AE-3DB38D170BBF}"/>
              </a:ext>
            </a:extLst>
          </p:cNvPr>
          <p:cNvSpPr/>
          <p:nvPr/>
        </p:nvSpPr>
        <p:spPr>
          <a:xfrm rot="5400000" flipH="1">
            <a:off x="4443766" y="2223156"/>
            <a:ext cx="683067" cy="7776864"/>
          </a:xfrm>
          <a:prstGeom prst="curvedRightArrow">
            <a:avLst/>
          </a:prstGeom>
          <a:solidFill>
            <a:schemeClr val="accent3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0" name="图形 49">
            <a:extLst>
              <a:ext uri="{FF2B5EF4-FFF2-40B4-BE49-F238E27FC236}">
                <a16:creationId xmlns:a16="http://schemas.microsoft.com/office/drawing/2014/main" id="{21E0DE3E-A421-423A-9273-6EB905C3695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41053" y="5157986"/>
            <a:ext cx="648245" cy="648245"/>
          </a:xfrm>
          <a:prstGeom prst="rect">
            <a:avLst/>
          </a:prstGeom>
        </p:spPr>
      </p:pic>
      <p:sp>
        <p:nvSpPr>
          <p:cNvPr id="55" name="Rectangle 99">
            <a:extLst>
              <a:ext uri="{FF2B5EF4-FFF2-40B4-BE49-F238E27FC236}">
                <a16:creationId xmlns:a16="http://schemas.microsoft.com/office/drawing/2014/main" id="{B5E87B2A-5E81-47F7-893D-CEBCBA8E29BE}"/>
              </a:ext>
            </a:extLst>
          </p:cNvPr>
          <p:cNvSpPr/>
          <p:nvPr/>
        </p:nvSpPr>
        <p:spPr>
          <a:xfrm>
            <a:off x="429963" y="1084226"/>
            <a:ext cx="8945847" cy="5621932"/>
          </a:xfrm>
          <a:prstGeom prst="rect">
            <a:avLst/>
          </a:prstGeom>
          <a:noFill/>
          <a:ln w="190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CN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987FF748-F032-4329-992E-76DE33D770C4}"/>
              </a:ext>
            </a:extLst>
          </p:cNvPr>
          <p:cNvCxnSpPr>
            <a:cxnSpLocks/>
          </p:cNvCxnSpPr>
          <p:nvPr/>
        </p:nvCxnSpPr>
        <p:spPr>
          <a:xfrm>
            <a:off x="429963" y="3213770"/>
            <a:ext cx="8945847" cy="0"/>
          </a:xfrm>
          <a:prstGeom prst="line">
            <a:avLst/>
          </a:prstGeom>
          <a:ln w="19050" cap="flat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0F58F59-C1C2-4224-9D2F-F88163D3805B}"/>
              </a:ext>
            </a:extLst>
          </p:cNvPr>
          <p:cNvSpPr txBox="1"/>
          <p:nvPr/>
        </p:nvSpPr>
        <p:spPr>
          <a:xfrm>
            <a:off x="1452304" y="5626038"/>
            <a:ext cx="2699327" cy="477054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altLang="zh-CN" sz="1500" i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&gt; maximum wait time</a:t>
            </a:r>
          </a:p>
          <a:p>
            <a:pPr algn="ctr">
              <a:lnSpc>
                <a:spcPts val="1500"/>
              </a:lnSpc>
            </a:pPr>
            <a:r>
              <a:rPr lang="zh-CN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cancellation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B720C02-3067-4031-9EB0-27C5154DD769}"/>
              </a:ext>
            </a:extLst>
          </p:cNvPr>
          <p:cNvSpPr txBox="1"/>
          <p:nvPr/>
        </p:nvSpPr>
        <p:spPr>
          <a:xfrm>
            <a:off x="5708290" y="3965788"/>
            <a:ext cx="2008753" cy="32316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confirmed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2C82E3E-89F3-43EF-B7BF-C07963D4D89F}"/>
              </a:ext>
            </a:extLst>
          </p:cNvPr>
          <p:cNvSpPr txBox="1"/>
          <p:nvPr/>
        </p:nvSpPr>
        <p:spPr>
          <a:xfrm>
            <a:off x="1363984" y="4017085"/>
            <a:ext cx="2699327" cy="32977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altLang="zh-CN" sz="1500" i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Payment</a:t>
            </a:r>
            <a:endParaRPr lang="zh-CN" altLang="en-US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F5987E0-1927-470D-A45D-94FC04D7284C}"/>
              </a:ext>
            </a:extLst>
          </p:cNvPr>
          <p:cNvSpPr txBox="1"/>
          <p:nvPr/>
        </p:nvSpPr>
        <p:spPr>
          <a:xfrm>
            <a:off x="3396139" y="1532809"/>
            <a:ext cx="2699327" cy="32977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altLang="zh-CN" sz="1500" i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Payment</a:t>
            </a:r>
            <a:endParaRPr lang="zh-CN" altLang="en-US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9867DA-BA62-43C4-AFF4-DB6958BE5B84}"/>
              </a:ext>
            </a:extLst>
          </p:cNvPr>
          <p:cNvSpPr txBox="1"/>
          <p:nvPr/>
        </p:nvSpPr>
        <p:spPr>
          <a:xfrm>
            <a:off x="3129389" y="3588811"/>
            <a:ext cx="256480" cy="2769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zh-CN" altLang="en-US" sz="2000" b="1" dirty="0">
                <a:latin typeface="Arial" pitchFamily="34" charset="0"/>
                <a:cs typeface="Arial" pitchFamily="34" charset="0"/>
              </a:rPr>
              <a:t>①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DA98427-2E56-4A60-9007-CB388E5529D0}"/>
              </a:ext>
            </a:extLst>
          </p:cNvPr>
          <p:cNvSpPr txBox="1"/>
          <p:nvPr/>
        </p:nvSpPr>
        <p:spPr>
          <a:xfrm>
            <a:off x="3089298" y="5118414"/>
            <a:ext cx="256480" cy="2769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zh-CN" altLang="en-US" sz="2000" b="1" dirty="0">
                <a:latin typeface="Arial" pitchFamily="34" charset="0"/>
                <a:cs typeface="Arial" pitchFamily="34" charset="0"/>
              </a:rPr>
              <a:t>②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DB2D328-610F-46EF-B4D2-ADB3304104D7}"/>
              </a:ext>
            </a:extLst>
          </p:cNvPr>
          <p:cNvSpPr txBox="1"/>
          <p:nvPr/>
        </p:nvSpPr>
        <p:spPr>
          <a:xfrm>
            <a:off x="7054708" y="3510026"/>
            <a:ext cx="256480" cy="2769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zh-CN" altLang="en-US" sz="2000" b="1" dirty="0">
                <a:latin typeface="Arial" pitchFamily="34" charset="0"/>
                <a:cs typeface="Arial" pitchFamily="34" charset="0"/>
              </a:rPr>
              <a:t>②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D5BB981-A7BF-436A-AB36-BCB44A4DA636}"/>
              </a:ext>
            </a:extLst>
          </p:cNvPr>
          <p:cNvSpPr txBox="1"/>
          <p:nvPr/>
        </p:nvSpPr>
        <p:spPr>
          <a:xfrm>
            <a:off x="5024214" y="5991594"/>
            <a:ext cx="256480" cy="2769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zh-CN" altLang="en-US" sz="2000" b="1" dirty="0">
                <a:latin typeface="Arial" pitchFamily="34" charset="0"/>
                <a:cs typeface="Arial" pitchFamily="34" charset="0"/>
              </a:rPr>
              <a:t>③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D493CE8-5582-40E3-A86C-78CC7A9D214E}"/>
              </a:ext>
            </a:extLst>
          </p:cNvPr>
          <p:cNvSpPr txBox="1"/>
          <p:nvPr/>
        </p:nvSpPr>
        <p:spPr>
          <a:xfrm>
            <a:off x="5024214" y="2536090"/>
            <a:ext cx="256480" cy="2769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zh-CN" altLang="en-US" sz="2000" b="1" dirty="0">
                <a:latin typeface="Arial" pitchFamily="34" charset="0"/>
                <a:cs typeface="Arial" pitchFamily="34" charset="0"/>
              </a:rPr>
              <a:t>②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7A32286-67F4-4849-9F0C-E112A83AB55F}"/>
              </a:ext>
            </a:extLst>
          </p:cNvPr>
          <p:cNvSpPr txBox="1"/>
          <p:nvPr/>
        </p:nvSpPr>
        <p:spPr>
          <a:xfrm>
            <a:off x="5024214" y="1055444"/>
            <a:ext cx="256480" cy="2769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zh-CN" altLang="en-US" sz="2000" b="1" dirty="0">
                <a:latin typeface="Arial" pitchFamily="34" charset="0"/>
                <a:cs typeface="Arial" pitchFamily="34" charset="0"/>
              </a:rPr>
              <a:t>①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63C879D-ED50-4B65-BF13-5CEF8612911E}"/>
              </a:ext>
            </a:extLst>
          </p:cNvPr>
          <p:cNvSpPr txBox="1"/>
          <p:nvPr/>
        </p:nvSpPr>
        <p:spPr>
          <a:xfrm>
            <a:off x="429963" y="1124377"/>
            <a:ext cx="2699327" cy="34881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2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in good credit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658C65A-926D-4E5F-B24D-6866B20B2498}"/>
              </a:ext>
            </a:extLst>
          </p:cNvPr>
          <p:cNvSpPr txBox="1"/>
          <p:nvPr/>
        </p:nvSpPr>
        <p:spPr>
          <a:xfrm>
            <a:off x="413310" y="3261001"/>
            <a:ext cx="2699327" cy="348813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2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in bad credit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82">
            <a:extLst>
              <a:ext uri="{FF2B5EF4-FFF2-40B4-BE49-F238E27FC236}">
                <a16:creationId xmlns:a16="http://schemas.microsoft.com/office/drawing/2014/main" id="{77157003-8B14-4B18-A401-928F0353F21E}"/>
              </a:ext>
            </a:extLst>
          </p:cNvPr>
          <p:cNvSpPr txBox="1"/>
          <p:nvPr/>
        </p:nvSpPr>
        <p:spPr>
          <a:xfrm>
            <a:off x="4813716" y="2828170"/>
            <a:ext cx="2122764" cy="32316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commodities</a:t>
            </a:r>
            <a:endParaRPr lang="en-CN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82">
            <a:extLst>
              <a:ext uri="{FF2B5EF4-FFF2-40B4-BE49-F238E27FC236}">
                <a16:creationId xmlns:a16="http://schemas.microsoft.com/office/drawing/2014/main" id="{0108B59F-DA0A-4CBE-A020-E98A68E68A5B}"/>
              </a:ext>
            </a:extLst>
          </p:cNvPr>
          <p:cNvSpPr txBox="1"/>
          <p:nvPr/>
        </p:nvSpPr>
        <p:spPr>
          <a:xfrm>
            <a:off x="4813716" y="6351752"/>
            <a:ext cx="2122764" cy="323165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commodities</a:t>
            </a:r>
            <a:endParaRPr lang="en-CN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055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02" y="369454"/>
            <a:ext cx="7236804" cy="54006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Price Discrimination and Countermeasures</a:t>
            </a:r>
          </a:p>
        </p:txBody>
      </p:sp>
      <p:pic>
        <p:nvPicPr>
          <p:cNvPr id="34" name="图形 33">
            <a:extLst>
              <a:ext uri="{FF2B5EF4-FFF2-40B4-BE49-F238E27FC236}">
                <a16:creationId xmlns:a16="http://schemas.microsoft.com/office/drawing/2014/main" id="{C2CD0C64-10C7-413B-9409-78458F8F99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4456" y="2277666"/>
            <a:ext cx="864096" cy="864096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EDAD09C2-D40E-49DE-978B-ADE1A80E48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5922" y="3717826"/>
            <a:ext cx="819586" cy="819586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A1C51B87-1E9D-4C5E-9D52-E9572B2D55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6711" y="4150556"/>
            <a:ext cx="819586" cy="819586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8E583BD8-C3FA-446D-966B-16EFE12650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7500" y="3717826"/>
            <a:ext cx="819586" cy="819586"/>
          </a:xfrm>
          <a:prstGeom prst="rect">
            <a:avLst/>
          </a:prstGeom>
        </p:spPr>
      </p:pic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37F99F0-3081-4826-8B75-2F060E3091B9}"/>
              </a:ext>
            </a:extLst>
          </p:cNvPr>
          <p:cNvCxnSpPr>
            <a:cxnSpLocks/>
            <a:stCxn id="34" idx="2"/>
            <a:endCxn id="44" idx="3"/>
          </p:cNvCxnSpPr>
          <p:nvPr/>
        </p:nvCxnSpPr>
        <p:spPr>
          <a:xfrm flipH="1">
            <a:off x="3215508" y="3141762"/>
            <a:ext cx="1560996" cy="985857"/>
          </a:xfrm>
          <a:prstGeom prst="straightConnector1">
            <a:avLst/>
          </a:prstGeom>
          <a:ln w="28575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2AC03778-C66F-48A6-B623-9DC6E667738F}"/>
              </a:ext>
            </a:extLst>
          </p:cNvPr>
          <p:cNvCxnSpPr>
            <a:cxnSpLocks/>
            <a:stCxn id="34" idx="2"/>
            <a:endCxn id="47" idx="0"/>
          </p:cNvCxnSpPr>
          <p:nvPr/>
        </p:nvCxnSpPr>
        <p:spPr>
          <a:xfrm>
            <a:off x="4776504" y="3141762"/>
            <a:ext cx="0" cy="1008794"/>
          </a:xfrm>
          <a:prstGeom prst="straightConnector1">
            <a:avLst/>
          </a:prstGeom>
          <a:ln w="28575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AB9E63C-62C4-48A8-843C-815B73624317}"/>
              </a:ext>
            </a:extLst>
          </p:cNvPr>
          <p:cNvCxnSpPr>
            <a:cxnSpLocks/>
            <a:stCxn id="34" idx="2"/>
            <a:endCxn id="51" idx="1"/>
          </p:cNvCxnSpPr>
          <p:nvPr/>
        </p:nvCxnSpPr>
        <p:spPr>
          <a:xfrm>
            <a:off x="4776504" y="3141762"/>
            <a:ext cx="1560996" cy="985857"/>
          </a:xfrm>
          <a:prstGeom prst="straightConnector1">
            <a:avLst/>
          </a:prstGeom>
          <a:ln w="28575" cap="flat">
            <a:solidFill>
              <a:schemeClr val="tx1"/>
            </a:solidFill>
            <a:miter lim="800000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74856E29-0333-44B7-A6C0-B95337127D9F}"/>
              </a:ext>
            </a:extLst>
          </p:cNvPr>
          <p:cNvSpPr txBox="1"/>
          <p:nvPr/>
        </p:nvSpPr>
        <p:spPr>
          <a:xfrm>
            <a:off x="3548050" y="3302291"/>
            <a:ext cx="538609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¥ 50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0673296-8BFB-49B7-AD02-2DC826C98C6A}"/>
              </a:ext>
            </a:extLst>
          </p:cNvPr>
          <p:cNvSpPr txBox="1"/>
          <p:nvPr/>
        </p:nvSpPr>
        <p:spPr>
          <a:xfrm>
            <a:off x="4570437" y="3551626"/>
            <a:ext cx="538609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¥ 60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E7E7790-4CE3-479E-A2EC-B377D26AB289}"/>
              </a:ext>
            </a:extLst>
          </p:cNvPr>
          <p:cNvSpPr txBox="1"/>
          <p:nvPr/>
        </p:nvSpPr>
        <p:spPr>
          <a:xfrm>
            <a:off x="5466349" y="3302291"/>
            <a:ext cx="538609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¥ 40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06353F20-65D4-453A-9352-C2247F466E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50001" y="5203711"/>
            <a:ext cx="429537" cy="429537"/>
          </a:xfrm>
          <a:prstGeom prst="rect">
            <a:avLst/>
          </a:prstGeom>
        </p:spPr>
      </p:pic>
      <p:pic>
        <p:nvPicPr>
          <p:cNvPr id="62" name="图形 61">
            <a:extLst>
              <a:ext uri="{FF2B5EF4-FFF2-40B4-BE49-F238E27FC236}">
                <a16:creationId xmlns:a16="http://schemas.microsoft.com/office/drawing/2014/main" id="{21666EEC-EBFC-4503-B0AA-61BCCE5870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90300" y="5292279"/>
            <a:ext cx="900100" cy="900100"/>
          </a:xfrm>
          <a:prstGeom prst="rect">
            <a:avLst/>
          </a:prstGeom>
        </p:spPr>
      </p:pic>
      <p:sp>
        <p:nvSpPr>
          <p:cNvPr id="63" name="Rounded Rectangle 16">
            <a:extLst>
              <a:ext uri="{FF2B5EF4-FFF2-40B4-BE49-F238E27FC236}">
                <a16:creationId xmlns:a16="http://schemas.microsoft.com/office/drawing/2014/main" id="{D10D35C2-497A-4D49-917D-73B419DEA805}"/>
              </a:ext>
            </a:extLst>
          </p:cNvPr>
          <p:cNvSpPr/>
          <p:nvPr/>
        </p:nvSpPr>
        <p:spPr>
          <a:xfrm>
            <a:off x="2893562" y="5046909"/>
            <a:ext cx="1022949" cy="13925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60000">
              <a:spcAft>
                <a:spcPts val="1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algn="ctr" defTabSz="360000">
              <a:spcAft>
                <a:spcPts val="1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¥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  <a:p>
            <a:pPr algn="ctr" defTabSz="360000">
              <a:spcAft>
                <a:spcPts val="1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ounded Rectangle 16">
            <a:extLst>
              <a:ext uri="{FF2B5EF4-FFF2-40B4-BE49-F238E27FC236}">
                <a16:creationId xmlns:a16="http://schemas.microsoft.com/office/drawing/2014/main" id="{A5AC66F7-F1BD-4614-BB77-126ADFF54B1D}"/>
              </a:ext>
            </a:extLst>
          </p:cNvPr>
          <p:cNvSpPr/>
          <p:nvPr/>
        </p:nvSpPr>
        <p:spPr>
          <a:xfrm>
            <a:off x="3914420" y="5046909"/>
            <a:ext cx="1022949" cy="13925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60000">
              <a:spcAft>
                <a:spcPts val="1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algn="ctr" defTabSz="360000">
              <a:spcAft>
                <a:spcPts val="1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¥ 6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 defTabSz="360000">
              <a:spcAft>
                <a:spcPts val="1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ounded Rectangle 16">
            <a:extLst>
              <a:ext uri="{FF2B5EF4-FFF2-40B4-BE49-F238E27FC236}">
                <a16:creationId xmlns:a16="http://schemas.microsoft.com/office/drawing/2014/main" id="{2F2E9E3E-84C7-4C64-BC49-2F58CF30B5FC}"/>
              </a:ext>
            </a:extLst>
          </p:cNvPr>
          <p:cNvSpPr/>
          <p:nvPr/>
        </p:nvSpPr>
        <p:spPr>
          <a:xfrm>
            <a:off x="4937369" y="5046909"/>
            <a:ext cx="1022949" cy="13925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>
            <a:solidFill>
              <a:schemeClr val="tx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60000">
              <a:spcAft>
                <a:spcPts val="1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algn="ctr" defTabSz="360000">
              <a:spcAft>
                <a:spcPts val="1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¥ 4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 defTabSz="360000">
              <a:spcAft>
                <a:spcPts val="10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图形 66">
            <a:extLst>
              <a:ext uri="{FF2B5EF4-FFF2-40B4-BE49-F238E27FC236}">
                <a16:creationId xmlns:a16="http://schemas.microsoft.com/office/drawing/2014/main" id="{978E827F-5043-4B1B-88DD-31D293A9EA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2229" y="5292279"/>
            <a:ext cx="1269863" cy="1269863"/>
          </a:xfrm>
          <a:prstGeom prst="rect">
            <a:avLst/>
          </a:prstGeom>
        </p:spPr>
      </p:pic>
      <p:sp>
        <p:nvSpPr>
          <p:cNvPr id="68" name="等腰三角形 67">
            <a:extLst>
              <a:ext uri="{FF2B5EF4-FFF2-40B4-BE49-F238E27FC236}">
                <a16:creationId xmlns:a16="http://schemas.microsoft.com/office/drawing/2014/main" id="{8178AC42-1013-4D98-8DBF-24EB6B8B5ACA}"/>
              </a:ext>
            </a:extLst>
          </p:cNvPr>
          <p:cNvSpPr/>
          <p:nvPr/>
        </p:nvSpPr>
        <p:spPr>
          <a:xfrm rot="16200000">
            <a:off x="1806916" y="5354899"/>
            <a:ext cx="1392546" cy="776567"/>
          </a:xfrm>
          <a:prstGeom prst="triangle">
            <a:avLst>
              <a:gd name="adj" fmla="val 74683"/>
            </a:avLst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箭头: 燕尾形 19">
            <a:extLst>
              <a:ext uri="{FF2B5EF4-FFF2-40B4-BE49-F238E27FC236}">
                <a16:creationId xmlns:a16="http://schemas.microsoft.com/office/drawing/2014/main" id="{469291E2-1062-4B46-80DC-19BD8845781C}"/>
              </a:ext>
            </a:extLst>
          </p:cNvPr>
          <p:cNvSpPr/>
          <p:nvPr/>
        </p:nvSpPr>
        <p:spPr>
          <a:xfrm>
            <a:off x="6464374" y="5364713"/>
            <a:ext cx="978408" cy="682417"/>
          </a:xfrm>
          <a:prstGeom prst="notchedRightArrow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箭头: 左弧形 20">
            <a:extLst>
              <a:ext uri="{FF2B5EF4-FFF2-40B4-BE49-F238E27FC236}">
                <a16:creationId xmlns:a16="http://schemas.microsoft.com/office/drawing/2014/main" id="{3D45CA6D-AE40-41D2-8EF1-76C9567BE1CB}"/>
              </a:ext>
            </a:extLst>
          </p:cNvPr>
          <p:cNvSpPr/>
          <p:nvPr/>
        </p:nvSpPr>
        <p:spPr>
          <a:xfrm rot="1992270">
            <a:off x="1219033" y="3844075"/>
            <a:ext cx="625756" cy="1323361"/>
          </a:xfrm>
          <a:prstGeom prst="curvedRightArrow">
            <a:avLst/>
          </a:prstGeom>
          <a:solidFill>
            <a:schemeClr val="bg1">
              <a:lumMod val="7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Rounded Rectangle 20">
            <a:extLst>
              <a:ext uri="{FF2B5EF4-FFF2-40B4-BE49-F238E27FC236}">
                <a16:creationId xmlns:a16="http://schemas.microsoft.com/office/drawing/2014/main" id="{11DCFF80-6901-4F49-9731-EE6F1CEF463D}"/>
              </a:ext>
            </a:extLst>
          </p:cNvPr>
          <p:cNvSpPr/>
          <p:nvPr/>
        </p:nvSpPr>
        <p:spPr>
          <a:xfrm>
            <a:off x="167526" y="1257969"/>
            <a:ext cx="2667612" cy="11094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of Transaction</a:t>
            </a:r>
          </a:p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Historical Transaction Information Accessible</a:t>
            </a:r>
          </a:p>
        </p:txBody>
      </p:sp>
      <p:sp>
        <p:nvSpPr>
          <p:cNvPr id="30" name="Rectangle 55">
            <a:extLst>
              <a:ext uri="{FF2B5EF4-FFF2-40B4-BE49-F238E27FC236}">
                <a16:creationId xmlns:a16="http://schemas.microsoft.com/office/drawing/2014/main" id="{ACE471FD-8B7B-4511-9F29-8FAAAF27B4F5}"/>
              </a:ext>
            </a:extLst>
          </p:cNvPr>
          <p:cNvSpPr/>
          <p:nvPr/>
        </p:nvSpPr>
        <p:spPr>
          <a:xfrm>
            <a:off x="3892670" y="1519236"/>
            <a:ext cx="1923632" cy="58688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Unreasonable Pricing</a:t>
            </a:r>
          </a:p>
        </p:txBody>
      </p:sp>
      <p:sp>
        <p:nvSpPr>
          <p:cNvPr id="36" name="Rounded Rectangle 20">
            <a:extLst>
              <a:ext uri="{FF2B5EF4-FFF2-40B4-BE49-F238E27FC236}">
                <a16:creationId xmlns:a16="http://schemas.microsoft.com/office/drawing/2014/main" id="{83C44C0C-38FB-4A80-94B3-670196CF23C5}"/>
              </a:ext>
            </a:extLst>
          </p:cNvPr>
          <p:cNvSpPr/>
          <p:nvPr/>
        </p:nvSpPr>
        <p:spPr>
          <a:xfrm>
            <a:off x="6860418" y="1257970"/>
            <a:ext cx="2517200" cy="11094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to Platform</a:t>
            </a:r>
          </a:p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Decline/Be Expelled </a:t>
            </a:r>
          </a:p>
        </p:txBody>
      </p:sp>
      <p:sp>
        <p:nvSpPr>
          <p:cNvPr id="41" name="箭头: 燕尾形 40">
            <a:extLst>
              <a:ext uri="{FF2B5EF4-FFF2-40B4-BE49-F238E27FC236}">
                <a16:creationId xmlns:a16="http://schemas.microsoft.com/office/drawing/2014/main" id="{130995F4-1F2E-4EEB-9EB4-A53A089FA43D}"/>
              </a:ext>
            </a:extLst>
          </p:cNvPr>
          <p:cNvSpPr/>
          <p:nvPr/>
        </p:nvSpPr>
        <p:spPr>
          <a:xfrm>
            <a:off x="3007710" y="1524906"/>
            <a:ext cx="698971" cy="584420"/>
          </a:xfrm>
          <a:prstGeom prst="notchedRightArrow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箭头: 燕尾形 41">
            <a:extLst>
              <a:ext uri="{FF2B5EF4-FFF2-40B4-BE49-F238E27FC236}">
                <a16:creationId xmlns:a16="http://schemas.microsoft.com/office/drawing/2014/main" id="{01AB11D5-663B-439F-8CE6-CB6923B87383}"/>
              </a:ext>
            </a:extLst>
          </p:cNvPr>
          <p:cNvSpPr/>
          <p:nvPr/>
        </p:nvSpPr>
        <p:spPr>
          <a:xfrm>
            <a:off x="5982743" y="1524906"/>
            <a:ext cx="698971" cy="584420"/>
          </a:xfrm>
          <a:prstGeom prst="notchedRightArrow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F64D138-1BAB-4CE2-92FE-27957224ED62}"/>
              </a:ext>
            </a:extLst>
          </p:cNvPr>
          <p:cNvSpPr txBox="1"/>
          <p:nvPr/>
        </p:nvSpPr>
        <p:spPr>
          <a:xfrm>
            <a:off x="7193381" y="6105413"/>
            <a:ext cx="1893937" cy="384721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punished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41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箭头: 右弧形 44">
            <a:extLst>
              <a:ext uri="{FF2B5EF4-FFF2-40B4-BE49-F238E27FC236}">
                <a16:creationId xmlns:a16="http://schemas.microsoft.com/office/drawing/2014/main" id="{0CB50CE0-BE27-48EE-9D85-B5164076DF0D}"/>
              </a:ext>
            </a:extLst>
          </p:cNvPr>
          <p:cNvSpPr/>
          <p:nvPr/>
        </p:nvSpPr>
        <p:spPr>
          <a:xfrm rot="14485695" flipH="1">
            <a:off x="3805133" y="4296102"/>
            <a:ext cx="791072" cy="2143503"/>
          </a:xfrm>
          <a:prstGeom prst="curvedLeftArrow">
            <a:avLst/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箭头: 右弧形 42">
            <a:extLst>
              <a:ext uri="{FF2B5EF4-FFF2-40B4-BE49-F238E27FC236}">
                <a16:creationId xmlns:a16="http://schemas.microsoft.com/office/drawing/2014/main" id="{5040C8EF-FDA8-4A8E-9B87-D108C0EB5AB5}"/>
              </a:ext>
            </a:extLst>
          </p:cNvPr>
          <p:cNvSpPr/>
          <p:nvPr/>
        </p:nvSpPr>
        <p:spPr>
          <a:xfrm rot="7426317">
            <a:off x="5446128" y="4321072"/>
            <a:ext cx="731520" cy="2143503"/>
          </a:xfrm>
          <a:prstGeom prst="curvedLeftArrow">
            <a:avLst/>
          </a:prstGeom>
          <a:solidFill>
            <a:schemeClr val="bg1">
              <a:lumMod val="85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99">
            <a:extLst>
              <a:ext uri="{FF2B5EF4-FFF2-40B4-BE49-F238E27FC236}">
                <a16:creationId xmlns:a16="http://schemas.microsoft.com/office/drawing/2014/main" id="{6AA88968-AD0D-453E-8D04-A5B92762F949}"/>
              </a:ext>
            </a:extLst>
          </p:cNvPr>
          <p:cNvSpPr/>
          <p:nvPr/>
        </p:nvSpPr>
        <p:spPr>
          <a:xfrm>
            <a:off x="343694" y="1233550"/>
            <a:ext cx="9217025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CN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02" y="369454"/>
            <a:ext cx="7236804" cy="54006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Measures to Protect Sellers</a:t>
            </a:r>
          </a:p>
        </p:txBody>
      </p:sp>
      <p:pic>
        <p:nvPicPr>
          <p:cNvPr id="22" name="图形 21">
            <a:extLst>
              <a:ext uri="{FF2B5EF4-FFF2-40B4-BE49-F238E27FC236}">
                <a16:creationId xmlns:a16="http://schemas.microsoft.com/office/drawing/2014/main" id="{7DED45BB-FF2B-4D1E-89DB-E2EBB4CE2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2324" y="1501435"/>
            <a:ext cx="864096" cy="864096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0567E22C-6319-4A9F-B73E-8B52ACFEEF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694" y="1332813"/>
            <a:ext cx="1733937" cy="1060512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449F5C8B-1A88-40D5-A1F9-F7C7CDE088BC}"/>
              </a:ext>
            </a:extLst>
          </p:cNvPr>
          <p:cNvSpPr txBox="1"/>
          <p:nvPr/>
        </p:nvSpPr>
        <p:spPr>
          <a:xfrm>
            <a:off x="454628" y="2424872"/>
            <a:ext cx="160584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llowance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BDC15C5-0C30-46E3-B67D-27DB940BAA22}"/>
              </a:ext>
            </a:extLst>
          </p:cNvPr>
          <p:cNvSpPr txBox="1"/>
          <p:nvPr/>
        </p:nvSpPr>
        <p:spPr>
          <a:xfrm>
            <a:off x="2254828" y="2428068"/>
            <a:ext cx="227908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Advertising fees  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图形 29">
            <a:extLst>
              <a:ext uri="{FF2B5EF4-FFF2-40B4-BE49-F238E27FC236}">
                <a16:creationId xmlns:a16="http://schemas.microsoft.com/office/drawing/2014/main" id="{A7C922D9-23B7-4EB0-9ACC-7D53AFBFD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7785" y="1501435"/>
            <a:ext cx="864096" cy="864096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19E9C169-19CA-4FC6-99D3-04B32BB7C313}"/>
              </a:ext>
            </a:extLst>
          </p:cNvPr>
          <p:cNvSpPr txBox="1"/>
          <p:nvPr/>
        </p:nvSpPr>
        <p:spPr>
          <a:xfrm>
            <a:off x="4732462" y="2428068"/>
            <a:ext cx="1734742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fees  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0B7B64D6-D21F-400D-8625-AA84EA3003D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8661" y="1571509"/>
            <a:ext cx="723947" cy="72394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E6F033BC-1AD0-48F2-8F30-898AA13683F5}"/>
              </a:ext>
            </a:extLst>
          </p:cNvPr>
          <p:cNvSpPr txBox="1"/>
          <p:nvPr/>
        </p:nvSpPr>
        <p:spPr>
          <a:xfrm>
            <a:off x="6473462" y="2424872"/>
            <a:ext cx="3114346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nterface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5">
            <a:extLst>
              <a:ext uri="{FF2B5EF4-FFF2-40B4-BE49-F238E27FC236}">
                <a16:creationId xmlns:a16="http://schemas.microsoft.com/office/drawing/2014/main" id="{089915F2-B378-406A-ABFB-E8A9663111C9}"/>
              </a:ext>
            </a:extLst>
          </p:cNvPr>
          <p:cNvSpPr/>
          <p:nvPr/>
        </p:nvSpPr>
        <p:spPr>
          <a:xfrm>
            <a:off x="1063774" y="5423796"/>
            <a:ext cx="2781970" cy="90550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Reputable but Heavily </a:t>
            </a:r>
          </a:p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Loss-making Merchants</a:t>
            </a:r>
          </a:p>
        </p:txBody>
      </p:sp>
      <p:sp>
        <p:nvSpPr>
          <p:cNvPr id="17" name="Rectangle 55">
            <a:extLst>
              <a:ext uri="{FF2B5EF4-FFF2-40B4-BE49-F238E27FC236}">
                <a16:creationId xmlns:a16="http://schemas.microsoft.com/office/drawing/2014/main" id="{11641BE1-CACD-4D01-B051-AC5DC1E6B268}"/>
              </a:ext>
            </a:extLst>
          </p:cNvPr>
          <p:cNvSpPr/>
          <p:nvPr/>
        </p:nvSpPr>
        <p:spPr>
          <a:xfrm>
            <a:off x="6419891" y="5423797"/>
            <a:ext cx="2781970" cy="90550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Newly Onboarded Merchants</a:t>
            </a:r>
          </a:p>
        </p:txBody>
      </p:sp>
      <p:pic>
        <p:nvPicPr>
          <p:cNvPr id="18" name="图形 17">
            <a:extLst>
              <a:ext uri="{FF2B5EF4-FFF2-40B4-BE49-F238E27FC236}">
                <a16:creationId xmlns:a16="http://schemas.microsoft.com/office/drawing/2014/main" id="{9132C911-49FF-4D9B-85ED-2F3EBABD68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38987" y="3213770"/>
            <a:ext cx="1116124" cy="111612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F6F219D-4675-4157-BED9-7BD588174B10}"/>
              </a:ext>
            </a:extLst>
          </p:cNvPr>
          <p:cNvSpPr txBox="1"/>
          <p:nvPr/>
        </p:nvSpPr>
        <p:spPr>
          <a:xfrm>
            <a:off x="4507945" y="4311891"/>
            <a:ext cx="1178207" cy="33239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none" lIns="0" tIns="0" rIns="0" bIns="0" rtlCol="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chemeClr val="bg2"/>
              </a:buClr>
            </a:pPr>
            <a:r>
              <a:rPr lang="en-US" altLang="zh-C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Platform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993F6EA2-6CC8-4A0F-AA11-71E6BD3CAC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36082" y="5298970"/>
            <a:ext cx="1155160" cy="1155160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61245B75-31EC-4156-A5F3-98E296ADBDB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64731" y="5298970"/>
            <a:ext cx="1155160" cy="1155160"/>
          </a:xfrm>
          <a:prstGeom prst="rect">
            <a:avLst/>
          </a:prstGeom>
        </p:spPr>
      </p:pic>
      <p:pic>
        <p:nvPicPr>
          <p:cNvPr id="32" name="图形 31">
            <a:extLst>
              <a:ext uri="{FF2B5EF4-FFF2-40B4-BE49-F238E27FC236}">
                <a16:creationId xmlns:a16="http://schemas.microsoft.com/office/drawing/2014/main" id="{77921CDC-B1FF-4356-BF83-78D329A9682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176806" y="3713285"/>
            <a:ext cx="642113" cy="642113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7A2143A3-551D-4708-8DA9-EA411243E55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47604" y="3713285"/>
            <a:ext cx="642113" cy="642113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93A42231-C748-4618-B79F-4190DC52C088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67400" y="3588460"/>
            <a:ext cx="356367" cy="356367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0D56097F-5C07-4CCA-AC7B-A33F884D8797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78116" y="3594374"/>
            <a:ext cx="356367" cy="356367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BEBAA1F1-E970-4013-92AE-8C3F02EFDCA2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030614" y="4854404"/>
            <a:ext cx="580945" cy="580945"/>
          </a:xfrm>
          <a:prstGeom prst="rect">
            <a:avLst/>
          </a:prstGeom>
        </p:spPr>
      </p:pic>
      <p:sp>
        <p:nvSpPr>
          <p:cNvPr id="26" name="箭头: 右弧形 25">
            <a:extLst>
              <a:ext uri="{FF2B5EF4-FFF2-40B4-BE49-F238E27FC236}">
                <a16:creationId xmlns:a16="http://schemas.microsoft.com/office/drawing/2014/main" id="{1EDAF78F-9A3B-44A9-BE3C-523CF1212A32}"/>
              </a:ext>
            </a:extLst>
          </p:cNvPr>
          <p:cNvSpPr/>
          <p:nvPr/>
        </p:nvSpPr>
        <p:spPr>
          <a:xfrm rot="13936477" flipV="1">
            <a:off x="2844024" y="3342690"/>
            <a:ext cx="731520" cy="2253645"/>
          </a:xfrm>
          <a:prstGeom prst="curvedLeftArrow">
            <a:avLst/>
          </a:prstGeom>
          <a:solidFill>
            <a:schemeClr val="bg1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箭头: 右弧形 43">
            <a:extLst>
              <a:ext uri="{FF2B5EF4-FFF2-40B4-BE49-F238E27FC236}">
                <a16:creationId xmlns:a16="http://schemas.microsoft.com/office/drawing/2014/main" id="{EC0E4560-39F9-48BC-9E73-2CB739B5A8A6}"/>
              </a:ext>
            </a:extLst>
          </p:cNvPr>
          <p:cNvSpPr/>
          <p:nvPr/>
        </p:nvSpPr>
        <p:spPr>
          <a:xfrm rot="18317460">
            <a:off x="6561836" y="3318523"/>
            <a:ext cx="731520" cy="2289970"/>
          </a:xfrm>
          <a:prstGeom prst="curvedLeftArrow">
            <a:avLst/>
          </a:prstGeom>
          <a:solidFill>
            <a:schemeClr val="bg1">
              <a:lumMod val="50000"/>
            </a:schemeClr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zh-CN" alt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F5F5AF73-0B33-4BCC-876A-43F0409D11D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64638" y="4842852"/>
            <a:ext cx="580945" cy="58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1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9">
            <a:extLst>
              <a:ext uri="{FF2B5EF4-FFF2-40B4-BE49-F238E27FC236}">
                <a16:creationId xmlns:a16="http://schemas.microsoft.com/office/drawing/2014/main" id="{16CE7B52-8F67-4E3A-A202-99D7C4FB6EC8}"/>
              </a:ext>
            </a:extLst>
          </p:cNvPr>
          <p:cNvSpPr/>
          <p:nvPr/>
        </p:nvSpPr>
        <p:spPr>
          <a:xfrm>
            <a:off x="343693" y="1386518"/>
            <a:ext cx="9217025" cy="193720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CN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02" y="369454"/>
            <a:ext cx="7236804" cy="54006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Three Main Risks of the Mechanism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5AE6FCB1-D957-4B22-B5D5-5913C78DC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693" y="1386518"/>
            <a:ext cx="1364940" cy="1364940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A889E792-D425-4EA4-A45E-CC8E35227B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1576" y="1523527"/>
            <a:ext cx="1139994" cy="1139994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28657340-7AC1-4019-A045-F67BD95AA4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2923" y="1523527"/>
            <a:ext cx="1170597" cy="1170597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5E879C10-56A8-4B2F-969A-05CBB8A02508}"/>
              </a:ext>
            </a:extLst>
          </p:cNvPr>
          <p:cNvSpPr txBox="1"/>
          <p:nvPr/>
        </p:nvSpPr>
        <p:spPr>
          <a:xfrm>
            <a:off x="6104334" y="2847814"/>
            <a:ext cx="3614477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等线" panose="02010600030101010101" pitchFamily="2" charset="-122"/>
              </a:rPr>
              <a:t>Malicious Behavior of Platforms</a:t>
            </a:r>
            <a:endParaRPr lang="zh-CN" altLang="en-US" sz="18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182CA18-A123-407E-BE57-769167AC9765}"/>
              </a:ext>
            </a:extLst>
          </p:cNvPr>
          <p:cNvSpPr txBox="1"/>
          <p:nvPr/>
        </p:nvSpPr>
        <p:spPr>
          <a:xfrm>
            <a:off x="199678" y="2849796"/>
            <a:ext cx="3158970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Incomplete Decentralization</a:t>
            </a:r>
            <a:endParaRPr lang="zh-CN" altLang="en-US" sz="18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9B6630-5181-459F-9CAB-513B5E79031C}"/>
              </a:ext>
            </a:extLst>
          </p:cNvPr>
          <p:cNvSpPr txBox="1"/>
          <p:nvPr/>
        </p:nvSpPr>
        <p:spPr>
          <a:xfrm>
            <a:off x="3163395" y="2851609"/>
            <a:ext cx="3158971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等线" panose="02010600030101010101" pitchFamily="2" charset="-122"/>
              </a:rPr>
              <a:t>Malicious Behavior of Users</a:t>
            </a:r>
            <a:endParaRPr lang="zh-CN" altLang="en-US" sz="1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CB73AB-62A4-46B0-87A0-2D524178232C}"/>
              </a:ext>
            </a:extLst>
          </p:cNvPr>
          <p:cNvSpPr txBox="1"/>
          <p:nvPr/>
        </p:nvSpPr>
        <p:spPr>
          <a:xfrm>
            <a:off x="343694" y="3508020"/>
            <a:ext cx="9217024" cy="2710486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75000"/>
              </a:lnSpc>
              <a:buFontTx/>
              <a:buChar char="-"/>
            </a:pP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Malicious behavior from </a:t>
            </a:r>
            <a:r>
              <a:rPr lang="en-US" altLang="zh-CN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dominant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users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 51% attack</a:t>
            </a:r>
            <a:endParaRPr lang="en-US" altLang="zh-CN" sz="2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821863" lvl="1" indent="-342900">
              <a:lnSpc>
                <a:spcPct val="175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Few publishing nodes</a:t>
            </a:r>
          </a:p>
          <a:p>
            <a:pPr marL="821863" lvl="1" indent="-342900">
              <a:lnSpc>
                <a:spcPct val="175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ea typeface="等线" panose="02010600030101010101" pitchFamily="2" charset="-122"/>
              </a:rPr>
              <a:t>S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ome users collaborate to engage in malicious behavior.</a:t>
            </a:r>
          </a:p>
          <a:p>
            <a:pPr marL="342900" indent="-342900">
              <a:lnSpc>
                <a:spcPct val="175000"/>
              </a:lnSpc>
              <a:buFontTx/>
              <a:buChar char="-"/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Incomplete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decentralization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 Platform is attacked, whole system crashes</a:t>
            </a:r>
          </a:p>
          <a:p>
            <a:pPr marL="342900" indent="-342900">
              <a:lnSpc>
                <a:spcPct val="175000"/>
              </a:lnSpc>
              <a:buFontTx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Malicious behavior of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platform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 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Government regulation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is necessary</a:t>
            </a:r>
          </a:p>
        </p:txBody>
      </p:sp>
    </p:spTree>
    <p:extLst>
      <p:ext uri="{BB962C8B-B14F-4D97-AF65-F5344CB8AC3E}">
        <p14:creationId xmlns:p14="http://schemas.microsoft.com/office/powerpoint/2010/main" val="213173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8A66A3C2-09CE-4811-84A1-1A58C8F35402}"/>
              </a:ext>
            </a:extLst>
          </p:cNvPr>
          <p:cNvSpPr/>
          <p:nvPr/>
        </p:nvSpPr>
        <p:spPr>
          <a:xfrm>
            <a:off x="5585430" y="5077874"/>
            <a:ext cx="2643139" cy="12322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0">
            <a:extLst>
              <a:ext uri="{FF2B5EF4-FFF2-40B4-BE49-F238E27FC236}">
                <a16:creationId xmlns:a16="http://schemas.microsoft.com/office/drawing/2014/main" id="{6168FD84-C57C-4A80-84DF-8CB96F9BEC80}"/>
              </a:ext>
            </a:extLst>
          </p:cNvPr>
          <p:cNvSpPr/>
          <p:nvPr/>
        </p:nvSpPr>
        <p:spPr>
          <a:xfrm>
            <a:off x="3898725" y="5077874"/>
            <a:ext cx="1564960" cy="12322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F911000-D2A6-4CE5-9DD5-2EF120A905D8}"/>
              </a:ext>
            </a:extLst>
          </p:cNvPr>
          <p:cNvSpPr/>
          <p:nvPr/>
        </p:nvSpPr>
        <p:spPr>
          <a:xfrm>
            <a:off x="1374093" y="5077874"/>
            <a:ext cx="2402886" cy="12322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02" y="369454"/>
            <a:ext cx="7236804" cy="54006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Main Innovation Points and Problems Solved</a:t>
            </a:r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D3479A2A-4289-43DC-884A-ECB20FA9D5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5891" y="5195036"/>
            <a:ext cx="648072" cy="648072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A519430D-AE37-475D-8882-08737D646A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0521" y="5124073"/>
            <a:ext cx="789997" cy="789997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088C49DF-9B59-4653-83F1-8FC0856C33A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1768" y="5206717"/>
            <a:ext cx="536877" cy="536877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38AB516B-01F7-449C-A0EF-461970683C4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51500" y="5205707"/>
            <a:ext cx="648072" cy="64807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9E2AA30-5F0A-439E-A1FB-413FCA2BD28C}"/>
              </a:ext>
            </a:extLst>
          </p:cNvPr>
          <p:cNvSpPr txBox="1"/>
          <p:nvPr/>
        </p:nvSpPr>
        <p:spPr>
          <a:xfrm>
            <a:off x="1374093" y="5796908"/>
            <a:ext cx="2402886" cy="40011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等线" panose="02010600030101010101" pitchFamily="2" charset="-122"/>
              </a:rPr>
              <a:t>Coupon and Discount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964C27C-98EC-419A-812D-F6688E97E578}"/>
              </a:ext>
            </a:extLst>
          </p:cNvPr>
          <p:cNvSpPr txBox="1"/>
          <p:nvPr/>
        </p:nvSpPr>
        <p:spPr>
          <a:xfrm>
            <a:off x="3981327" y="5796908"/>
            <a:ext cx="1482358" cy="40011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等线" panose="02010600030101010101" pitchFamily="2" charset="-122"/>
              </a:rPr>
              <a:t>Membership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77608C-B6E3-45CA-9AFF-CD9C488EC0CD}"/>
              </a:ext>
            </a:extLst>
          </p:cNvPr>
          <p:cNvSpPr txBox="1"/>
          <p:nvPr/>
        </p:nvSpPr>
        <p:spPr>
          <a:xfrm>
            <a:off x="5661767" y="5796907"/>
            <a:ext cx="2400125" cy="400110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等线" panose="02010600030101010101" pitchFamily="2" charset="-122"/>
              </a:rPr>
              <a:t>Government and Key</a:t>
            </a:r>
            <a:endParaRPr lang="zh-CN" altLang="en-US" dirty="0"/>
          </a:p>
        </p:txBody>
      </p:sp>
      <p:sp>
        <p:nvSpPr>
          <p:cNvPr id="20" name="Rounded Rectangle 20">
            <a:extLst>
              <a:ext uri="{FF2B5EF4-FFF2-40B4-BE49-F238E27FC236}">
                <a16:creationId xmlns:a16="http://schemas.microsoft.com/office/drawing/2014/main" id="{5C5F92F5-A946-4C47-B64C-23143B229D5A}"/>
              </a:ext>
            </a:extLst>
          </p:cNvPr>
          <p:cNvSpPr/>
          <p:nvPr/>
        </p:nvSpPr>
        <p:spPr>
          <a:xfrm>
            <a:off x="1374093" y="4613860"/>
            <a:ext cx="6854476" cy="40011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Government-Supervising Proof of Credit-Membership Consensus Model</a:t>
            </a:r>
          </a:p>
        </p:txBody>
      </p:sp>
      <p:sp>
        <p:nvSpPr>
          <p:cNvPr id="25" name="Rounded Rectangle 20">
            <a:extLst>
              <a:ext uri="{FF2B5EF4-FFF2-40B4-BE49-F238E27FC236}">
                <a16:creationId xmlns:a16="http://schemas.microsoft.com/office/drawing/2014/main" id="{898BF5AC-7075-477A-B5B8-334DA138EC56}"/>
              </a:ext>
            </a:extLst>
          </p:cNvPr>
          <p:cNvSpPr/>
          <p:nvPr/>
        </p:nvSpPr>
        <p:spPr>
          <a:xfrm>
            <a:off x="1374094" y="4113870"/>
            <a:ext cx="6854476" cy="4001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Trading Platform</a:t>
            </a:r>
            <a:endParaRPr lang="en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55">
            <a:extLst>
              <a:ext uri="{FF2B5EF4-FFF2-40B4-BE49-F238E27FC236}">
                <a16:creationId xmlns:a16="http://schemas.microsoft.com/office/drawing/2014/main" id="{371B6EDD-A22D-4EFA-8A30-FFD49C7ABF52}"/>
              </a:ext>
            </a:extLst>
          </p:cNvPr>
          <p:cNvSpPr/>
          <p:nvPr/>
        </p:nvSpPr>
        <p:spPr>
          <a:xfrm>
            <a:off x="1374240" y="3609814"/>
            <a:ext cx="3469955" cy="4001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Accounting C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 Problem</a:t>
            </a:r>
            <a:endParaRPr lang="en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55">
            <a:extLst>
              <a:ext uri="{FF2B5EF4-FFF2-40B4-BE49-F238E27FC236}">
                <a16:creationId xmlns:a16="http://schemas.microsoft.com/office/drawing/2014/main" id="{6714C917-CA4C-457E-A93C-D57B166D8632}"/>
              </a:ext>
            </a:extLst>
          </p:cNvPr>
          <p:cNvSpPr/>
          <p:nvPr/>
        </p:nvSpPr>
        <p:spPr>
          <a:xfrm>
            <a:off x="5060217" y="3617959"/>
            <a:ext cx="3168352" cy="4001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 cap="flat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Discrimination Problem</a:t>
            </a:r>
            <a:endParaRPr lang="en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99">
            <a:extLst>
              <a:ext uri="{FF2B5EF4-FFF2-40B4-BE49-F238E27FC236}">
                <a16:creationId xmlns:a16="http://schemas.microsoft.com/office/drawing/2014/main" id="{3F688B59-5EC7-47E2-B234-E28F227A7DE8}"/>
              </a:ext>
            </a:extLst>
          </p:cNvPr>
          <p:cNvSpPr/>
          <p:nvPr/>
        </p:nvSpPr>
        <p:spPr>
          <a:xfrm>
            <a:off x="1182355" y="3429794"/>
            <a:ext cx="7236804" cy="3060340"/>
          </a:xfrm>
          <a:prstGeom prst="rect">
            <a:avLst/>
          </a:prstGeom>
          <a:noFill/>
          <a:ln w="19050" cap="flat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CN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A2C619-EC79-47AD-8BF7-932ED54490F9}"/>
              </a:ext>
            </a:extLst>
          </p:cNvPr>
          <p:cNvSpPr txBox="1"/>
          <p:nvPr/>
        </p:nvSpPr>
        <p:spPr>
          <a:xfrm>
            <a:off x="343693" y="950911"/>
            <a:ext cx="9217024" cy="2345322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Domestic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policies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and actual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situation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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Adjustment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from traditional blockchain</a:t>
            </a:r>
          </a:p>
          <a:p>
            <a:pPr marL="821863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Strict government regulation 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+mn-cs"/>
              </a:rPr>
              <a:t> 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1" kern="1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rivate key 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application from government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21863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Coupon and discount cultures 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+mn-cs"/>
              </a:rPr>
              <a:t> 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b="1" kern="1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Rewards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bookkeeping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21863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recharge culture 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+mn-cs"/>
              </a:rPr>
              <a:t> 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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+mn-cs"/>
              </a:rPr>
              <a:t> </a:t>
            </a:r>
            <a:r>
              <a:rPr lang="en-US" altLang="zh-CN" sz="2000" b="1" kern="12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Membership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system</a:t>
            </a:r>
          </a:p>
          <a:p>
            <a:pPr marL="342900" lvl="1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Accounting Cost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Problem &amp;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Price Discrimination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3231659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think-cell Slide" r:id="rId4" imgW="7620" imgH="7620" progId="TCLayout.ActiveDocument.1">
                  <p:embed/>
                </p:oleObj>
              </mc:Choice>
              <mc:Fallback>
                <p:oleObj name="think-cell Slide" r:id="rId4" imgW="7620" imgH="7620" progId="TCLayout.ActiveDocument.1">
                  <p:embed/>
                  <p:pic>
                    <p:nvPicPr>
                      <p:cNvPr id="4" name="对象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0" y="2781722"/>
            <a:ext cx="9904413" cy="684076"/>
          </a:xfr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Thank</a:t>
            </a:r>
            <a:r>
              <a:rPr lang="zh-CN" altLang="en-US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You For Your </a:t>
            </a:r>
            <a:r>
              <a:rPr lang="en-US" altLang="zh-CN" sz="4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4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istening</a:t>
            </a:r>
            <a:endParaRPr lang="en-US" sz="7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占位符 8">
            <a:extLst>
              <a:ext uri="{FF2B5EF4-FFF2-40B4-BE49-F238E27FC236}">
                <a16:creationId xmlns:a16="http://schemas.microsoft.com/office/drawing/2014/main" id="{2814BBF2-F45A-4BE4-8F6C-7F4A2C8A53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80098" y="5193990"/>
            <a:ext cx="1950744" cy="369332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2400" dirty="0"/>
              <a:t>Y</a:t>
            </a:r>
            <a:r>
              <a:rPr lang="en-US" altLang="zh-CN" sz="2400" dirty="0"/>
              <a:t>iming Jiang</a:t>
            </a:r>
            <a:endParaRPr lang="en-US" sz="2400" dirty="0"/>
          </a:p>
        </p:txBody>
      </p:sp>
      <p:sp>
        <p:nvSpPr>
          <p:cNvPr id="10" name="文本占位符 8">
            <a:extLst>
              <a:ext uri="{FF2B5EF4-FFF2-40B4-BE49-F238E27FC236}">
                <a16:creationId xmlns:a16="http://schemas.microsoft.com/office/drawing/2014/main" id="{F3E9273A-0BE5-4808-A15E-B01861A04219}"/>
              </a:ext>
            </a:extLst>
          </p:cNvPr>
          <p:cNvSpPr txBox="1">
            <a:spLocks/>
          </p:cNvSpPr>
          <p:nvPr/>
        </p:nvSpPr>
        <p:spPr>
          <a:xfrm>
            <a:off x="4228862" y="5903617"/>
            <a:ext cx="1446689" cy="30777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57925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Arial" pitchFamily="34" charset="0"/>
              </a:defRPr>
            </a:lvl1pPr>
            <a:lvl2pPr marL="191585" indent="0" algn="l" defTabSz="957925" rtl="0" eaLnBrk="1" latinLnBrk="0" hangingPunct="1">
              <a:lnSpc>
                <a:spcPct val="90000"/>
              </a:lnSpc>
              <a:spcBef>
                <a:spcPts val="943"/>
              </a:spcBef>
              <a:buClr>
                <a:schemeClr val="bg2"/>
              </a:buClr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Arial" pitchFamily="34" charset="0"/>
              </a:defRPr>
            </a:lvl2pPr>
            <a:lvl3pPr marL="338624" indent="0" algn="l" defTabSz="957925" rtl="0" eaLnBrk="1" latinLnBrk="0" hangingPunct="1">
              <a:lnSpc>
                <a:spcPct val="90000"/>
              </a:lnSpc>
              <a:spcBef>
                <a:spcPts val="629"/>
              </a:spcBef>
              <a:buClr>
                <a:schemeClr val="bg2"/>
              </a:buClr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Arial" pitchFamily="34" charset="0"/>
              </a:defRPr>
            </a:lvl3pPr>
            <a:lvl4pPr marL="535156" indent="0" algn="l" defTabSz="957925" rtl="0" eaLnBrk="1" latinLnBrk="0" hangingPunct="1">
              <a:lnSpc>
                <a:spcPct val="90000"/>
              </a:lnSpc>
              <a:spcBef>
                <a:spcPts val="210"/>
              </a:spcBef>
              <a:buClr>
                <a:schemeClr val="bg2"/>
              </a:buClr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Arial" pitchFamily="34" charset="0"/>
              </a:defRPr>
            </a:lvl4pPr>
            <a:lvl5pPr marL="686388" indent="0" algn="l" defTabSz="957925" rtl="0" eaLnBrk="1" latinLnBrk="0" hangingPunct="1">
              <a:lnSpc>
                <a:spcPct val="90000"/>
              </a:lnSpc>
              <a:spcBef>
                <a:spcPts val="105"/>
              </a:spcBef>
              <a:buClr>
                <a:schemeClr val="bg2"/>
              </a:buClr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Arial" pitchFamily="34" charset="0"/>
              </a:defRPr>
            </a:lvl5pPr>
            <a:lvl6pPr marL="2634295" indent="-239481" algn="l" defTabSz="957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3258" indent="-239481" algn="l" defTabSz="957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2220" indent="-239481" algn="l" defTabSz="957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1183" indent="-239481" algn="l" defTabSz="957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000" dirty="0"/>
              <a:t>2024.11.07</a:t>
            </a:r>
          </a:p>
        </p:txBody>
      </p:sp>
      <p:sp>
        <p:nvSpPr>
          <p:cNvPr id="12" name="标题 4">
            <a:extLst>
              <a:ext uri="{FF2B5EF4-FFF2-40B4-BE49-F238E27FC236}">
                <a16:creationId xmlns:a16="http://schemas.microsoft.com/office/drawing/2014/main" id="{C7B2B521-F4D4-46B9-9385-17F7800D5675}"/>
              </a:ext>
            </a:extLst>
          </p:cNvPr>
          <p:cNvSpPr txBox="1">
            <a:spLocks/>
          </p:cNvSpPr>
          <p:nvPr/>
        </p:nvSpPr>
        <p:spPr bwMode="auto">
          <a:xfrm>
            <a:off x="-1" y="1017526"/>
            <a:ext cx="9812747" cy="576064"/>
          </a:xfrm>
          <a:prstGeom prst="rect">
            <a:avLst/>
          </a:prstGeom>
          <a:noFill/>
          <a:ln w="6350" cap="flat">
            <a:noFill/>
            <a:miter lim="800000"/>
            <a:headEnd/>
            <a:tailEnd/>
          </a:ln>
        </p:spPr>
        <p:txBody>
          <a:bodyPr vert="horz" wrap="square" lIns="95793" tIns="47896" rIns="95793" bIns="47896" numCol="1" anchor="ctr" anchorCtr="0" compatLnSpc="1">
            <a:prstTxWarp prst="textNoShape">
              <a:avLst/>
            </a:prstTxWarp>
          </a:bodyPr>
          <a:lstStyle>
            <a:lvl1pPr marL="0" indent="0" algn="l" defTabSz="95792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Design of an online trading platform mechanism based on blockchain technology in China</a:t>
            </a:r>
            <a:endParaRPr lang="en-CN" sz="2000" i="1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7799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2077&quot;/&gt;&lt;CPresentation id=&quot;1&quot;&gt;&lt;m_precDefaultNumber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strFormatTime&gt;%#m/%#d/%Y&lt;/m_strFormatTime&gt;&lt;/m_precDefaultDate&gt;&lt;m_precDefaultYear/&gt;&lt;m_precDefaultQuarter/&gt;&lt;m_precDefaultMonth/&gt;&lt;m_precDefaultWeek/&gt;&lt;m_precDefaultDay/&gt;&lt;m_mruColor&gt;&lt;m_vecMRU length=&quot;12&quot;&gt;&lt;elem m_fUsage=&quot;1.68322986240641190000E+000&quot;&gt;&lt;m_ppcolschidx val=&quot;0&quot;/&gt;&lt;m_rgb r=&quot;9b&quot; g=&quot;17&quot; b=&quot;17&quot;/&gt;&lt;/elem&gt;&lt;elem m_fUsage=&quot;1.50338772469263370000E+000&quot;&gt;&lt;m_ppcolschidx val=&quot;0&quot;/&gt;&lt;m_rgb r=&quot;e5&quot; g=&quot;52&quot; b=&quot;52&quot;/&gt;&lt;/elem&gt;&lt;elem m_fUsage=&quot;1.22240875340971660000E+000&quot;&gt;&lt;m_ppcolschidx val=&quot;0&quot;/&gt;&lt;m_rgb r=&quot;c0&quot; g=&quot;0&quot; b=&quot;0&quot;/&gt;&lt;/elem&gt;&lt;elem m_fUsage=&quot;1.01916297527188230000E+000&quot;&gt;&lt;m_ppcolschidx val=&quot;0&quot;/&gt;&lt;m_rgb r=&quot;ee&quot; g=&quot;8b&quot; b=&quot;8b&quot;/&gt;&lt;/elem&gt;&lt;elem m_fUsage=&quot;9.90952901816634310000E-001&quot;&gt;&lt;m_ppcolschidx val=&quot;0&quot;/&gt;&lt;m_rgb r=&quot;f6&quot; g=&quot;c5&quot; b=&quot;c5&quot;/&gt;&lt;/elem&gt;&lt;elem m_fUsage=&quot;7.96036907042989350000E-001&quot;&gt;&lt;m_ppcolschidx val=&quot;0&quot;/&gt;&lt;m_rgb r=&quot;8c&quot; g=&quot;0&quot; b=&quot;0&quot;/&gt;&lt;/elem&gt;&lt;elem m_fUsage=&quot;7.74929666165770640000E-001&quot;&gt;&lt;m_ppcolschidx val=&quot;0&quot;/&gt;&lt;m_rgb r=&quot;74&quot; g=&quot;11&quot; b=&quot;11&quot;/&gt;&lt;/elem&gt;&lt;elem m_fUsage=&quot;6.20506540339557430000E-001&quot;&gt;&lt;m_ppcolschidx val=&quot;0&quot;/&gt;&lt;m_rgb r=&quot;b7&quot; g=&quot;84&quot; b=&quot;84&quot;/&gt;&lt;/elem&gt;&lt;elem m_fUsage=&quot;5.37470833195205280000E-001&quot;&gt;&lt;m_ppcolschidx val=&quot;0&quot;/&gt;&lt;m_rgb r=&quot;c5&quot; g=&quot;a0&quot; b=&quot;a0&quot;/&gt;&lt;/elem&gt;&lt;elem m_fUsage=&quot;4.22298087940373430000E-001&quot;&gt;&lt;m_ppcolschidx val=&quot;0&quot;/&gt;&lt;m_rgb r=&quot;d6&quot; g=&quot;bf&quot; b=&quot;bf&quot;/&gt;&lt;/elem&gt;&lt;elem m_fUsage=&quot;2.57980839435674180000E-001&quot;&gt;&lt;m_ppcolschidx val=&quot;0&quot;/&gt;&lt;m_rgb r=&quot;73&quot; g=&quot;0&quot; b=&quot;0&quot;/&gt;&lt;/elem&gt;&lt;elem m_fUsage=&quot;1.65995699549193580000E-001&quot;&gt;&lt;m_ppcolschidx val=&quot;0&quot;/&gt;&lt;m_rgb r=&quot;4e&quot; g=&quot;c&quot; b=&quot;c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R Onlytext">
  <a:themeElements>
    <a:clrScheme name="ATK Color 2012_01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ATK Font 2012_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 w="6350" cap="flat">
          <a:noFill/>
          <a:miter lim="800000"/>
        </a:ln>
      </a:spPr>
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spcBef>
            <a:spcPts val="900"/>
          </a:spcBef>
          <a:defRPr sz="1400" dirty="0" err="1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accent3"/>
          </a:solidFill>
          <a:miter lim="800000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 cap="flat">
          <a:noFill/>
          <a:miter lim="800000"/>
        </a:ln>
      </a:spPr>
      <a:bodyPr wrap="none" lIns="0" tIns="0" rIns="0" bIns="0" rtlCol="0" anchor="t" anchorCtr="0">
        <a:spAutoFit/>
      </a:bodyPr>
      <a:lstStyle>
        <a:defPPr>
          <a:lnSpc>
            <a:spcPct val="90000"/>
          </a:lnSpc>
          <a:spcBef>
            <a:spcPts val="600"/>
          </a:spcBef>
          <a:buClr>
            <a:schemeClr val="bg2"/>
          </a:buClr>
          <a:defRPr sz="1400"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custClrLst>
    <a:custClr name="Custom Color 1">
      <a:srgbClr val="9B1717"/>
    </a:custClr>
    <a:custClr name="Custom Color 2">
      <a:srgbClr val="DCDC00"/>
    </a:custClr>
    <a:custClr name="Custom Color 3">
      <a:srgbClr val="289055"/>
    </a:custClr>
  </a:custClrLst>
</a:theme>
</file>

<file path=ppt/theme/theme2.xml><?xml version="1.0" encoding="utf-8"?>
<a:theme xmlns:a="http://schemas.openxmlformats.org/drawingml/2006/main" name="Office Theme">
  <a:themeElements>
    <a:clrScheme name="ATK Color 2012_01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585</Words>
  <Application>Microsoft Office PowerPoint</Application>
  <PresentationFormat>自定义</PresentationFormat>
  <Paragraphs>167</Paragraphs>
  <Slides>12</Slides>
  <Notes>9</Notes>
  <HiddenSlides>1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Palatino Linotype</vt:lpstr>
      <vt:lpstr>Times New Roman</vt:lpstr>
      <vt:lpstr>Vrinda</vt:lpstr>
      <vt:lpstr>Wingdings</vt:lpstr>
      <vt:lpstr>CR Onlytext</vt:lpstr>
      <vt:lpstr>think-cell Slide</vt:lpstr>
      <vt:lpstr>PowerPoint 演示文稿</vt:lpstr>
      <vt:lpstr>Mechanism architecture</vt:lpstr>
      <vt:lpstr>Data Storage and Usage Permissions</vt:lpstr>
      <vt:lpstr>Incomplete Asymmetric-Key Cryptography</vt:lpstr>
      <vt:lpstr>Blocks and Blockchain</vt:lpstr>
      <vt:lpstr>Modified Consensus Model</vt:lpstr>
      <vt:lpstr>Physical Transactions and Returns</vt:lpstr>
      <vt:lpstr>Price Discrimination and Countermeasures</vt:lpstr>
      <vt:lpstr>Measures to Protect Sellers</vt:lpstr>
      <vt:lpstr>Three Main Risks of the Mechanism</vt:lpstr>
      <vt:lpstr>Main Innovation Points and Problems Solved</vt:lpstr>
      <vt:lpstr>Thank You For Your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2014-03-26T02:17:58Z</dcterms:created>
  <dcterms:modified xsi:type="dcterms:W3CDTF">2024-11-07T02:38:05Z</dcterms:modified>
  <cp:version>112013</cp:version>
</cp:coreProperties>
</file>